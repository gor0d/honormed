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Versão 19/10/2026. Apresentação do produto e da proposta individual. Não é promessa de recebimento ou confirmação hospitalar. Nenhum dado real ou de paciente neste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o benefício como hipótese a validar no uso, sem garantir renda, recuperação de glosa ou economia medida.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Meta de primeiro registro abaixo de dois minutos ainda precisa ser medida com usuários. Não anunciar como resultado comprovado.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somar ou compensar automaticamente Consultas e Laudos. A seleção de perfil não é plano de assinatura.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os números são fictícios. Fórmulas permanecem no SQL. Não é fluxo bancário ou comprovação de recebimento. Não usar dados de pacientes na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titular relatou teste manual da extensão em 18/10. Navegador e expiração ainda precisam ser registrados. Sem leitura de prontuários ou automação hospitalar.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prometer expurgo imediato de backups. Feedback prepara e-mail sem anexar dados da conta. Novas funções de conta e métricas dependem de migrations e deploy autorizados.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 única: web/src/lib/plans.ts. Preço é hipótese comercial, não contrato. Propostas antigas Free e Institucional foram retiradas. Integração hospitalar e cobrança automática não estão incluídas. Não assegurar margem ou retorno financeiro.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E-mails básicos foram confirmados pelo titular em 17/10. Novos modelos, conta/métricas, retenção e restauração precisam de homologação. Não enviar convites automaticamente.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Oracle/MV, organizações, cirurgias, internações, plantões e cobrança automática não estão implementados. B7 depende de decisão de cobrar; B8 depende de validação de regras. Nenhum deploy ou operação remota nesta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F8F5ED"/>
                </a:solidFill>
                <a:latin typeface="Segoe UI"/>
              </a:defRPr>
            </a:pPr>
            <a:r>
              <a:t>AUTONOMIA PARA QUEM CUIDA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FFFFFF"/>
                </a:solidFill>
                <a:latin typeface="Segoe UI Semibold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F8F5ED"/>
                </a:solidFill>
                <a:latin typeface="Segoe UI"/>
              </a:defRPr>
            </a:pPr>
            <a:r>
              <a:t>HonorMed  ·  Controle pessoal  ·  capturas com dados fictícios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F8F5ED"/>
                </a:solidFill>
                <a:latin typeface="Segoe UI"/>
              </a:defRPr>
            </a:pPr>
            <a:r>
              <a:t>01 / 10</a:t>
            </a:r>
          </a:p>
        </p:txBody>
      </p:sp>
      <p:pic>
        <p:nvPicPr>
          <p:cNvPr id="6" name="Picture 5" descr="logo-inve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5486400" cy="12320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743200"/>
            <a:ext cx="10058400" cy="1371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3400" b="0">
                <a:solidFill>
                  <a:srgbClr val="F8F5ED"/>
                </a:solidFill>
                <a:latin typeface="Segoe UI Semibold"/>
              </a:defRPr>
            </a:pPr>
            <a:r>
              <a:t>Sua produção. Seus honorários.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3400" b="0">
                <a:solidFill>
                  <a:srgbClr val="F8F5ED"/>
                </a:solidFill>
                <a:latin typeface="Segoe UI Semibold"/>
              </a:defRPr>
            </a:pPr>
            <a:r>
              <a:t>Seu controle.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72000"/>
            <a:ext cx="100584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2100" b="0">
                <a:solidFill>
                  <a:srgbClr val="F8F5ED"/>
                </a:solidFill>
                <a:latin typeface="Segoe UI"/>
              </a:defRPr>
            </a:pPr>
            <a:r>
              <a:t>Consultas, Laudos ou ambos.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2100" b="0">
                <a:solidFill>
                  <a:srgbClr val="F8F5ED"/>
                </a:solidFill>
                <a:latin typeface="Segoe UI"/>
              </a:defRPr>
            </a:pPr>
            <a:r>
              <a:t>Controle pessoal, simples e independente do administrativo.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6496" y="256032"/>
            <a:ext cx="914400" cy="2053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1C6860"/>
                </a:solidFill>
                <a:latin typeface="Segoe UI"/>
              </a:defRPr>
            </a:pPr>
            <a:r>
              <a:t>O VALOR PARA O MÉDICO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183B38"/>
                </a:solidFill>
                <a:latin typeface="Segoe UI Semibold"/>
              </a:defRPr>
            </a:pPr>
            <a:r>
              <a:t>Comece com o que você já sabe.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Um registro de quantidade, sem precisar preencher uma planilha.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596C66"/>
                </a:solidFill>
                <a:latin typeface="Segoe UI"/>
              </a:defRPr>
            </a:pPr>
            <a:r>
              <a:t>HonorMed  ·  Controle pessoal  ·  capturas com dados fictícios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596C66"/>
                </a:solidFill>
                <a:latin typeface="Segoe UI"/>
              </a:defRPr>
            </a:pPr>
            <a:r>
              <a:t>02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REGISTRAR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O que produziu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Data, local e quantidade. Honorário desconhecido pode ficar pendente.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PREVER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O que espera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Honorários conhecidos ajudam a estimar a produção e o saldo.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CONFERIR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O que recebeu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Informe os pagamentos e acompanhe diferenças no seu controle.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68112"/>
            <a:ext cx="1115568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596C66"/>
                </a:solidFill>
                <a:latin typeface="Segoe UI"/>
              </a:defRPr>
            </a:pPr>
            <a:r>
              <a:t>As informações são declaradas pelo médico. O saldo não confirma pagamento pelo hospital.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6496" y="256032"/>
            <a:ext cx="914400" cy="2053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1C6860"/>
                </a:solidFill>
                <a:latin typeface="Segoe UI"/>
              </a:defRPr>
            </a:pPr>
            <a:r>
              <a:t>PRIMEIROS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183B38"/>
                </a:solidFill>
                <a:latin typeface="Segoe UI Semibold"/>
              </a:defRPr>
            </a:pPr>
            <a:r>
              <a:t>Configure sua rotina. Registre o dia.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Escolha Consultas, Laudos ou Ambos. O código MV é opcional.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596C66"/>
                </a:solidFill>
                <a:latin typeface="Segoe UI"/>
              </a:defRPr>
            </a:pPr>
            <a:r>
              <a:t>HonorMed  ·  Controle pessoal  ·  capturas com dados fictícios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596C66"/>
                </a:solidFill>
                <a:latin typeface="Segoe UI"/>
              </a:defRPr>
            </a:pPr>
            <a:r>
              <a:t>03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01 / CONFIGURAR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Seus locais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Consultas: local e convênio. Laudos: instituição e tipo de exame.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02 / REGISTRAR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Sua quantidade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Registre uma unidade ou o total do dia; informe o honorário quando souber.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03 / ACOMPANHAR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Seus recebimentos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Selecione o mês da produção e informe o que recebeu para conferir o saldo.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68112"/>
            <a:ext cx="1115568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596C66"/>
                </a:solidFill>
                <a:latin typeface="Segoe UI"/>
              </a:defRPr>
            </a:pPr>
            <a:r>
              <a:t>Checklist guiado e atalho Registrar estão preparados nos PRs, ainda sem publicação.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6496" y="256032"/>
            <a:ext cx="914400" cy="2053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1C6860"/>
                </a:solidFill>
                <a:latin typeface="Segoe UI"/>
              </a:defRPr>
            </a:pPr>
            <a:r>
              <a:t>DOIS MÓDULOS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183B38"/>
                </a:solidFill>
                <a:latin typeface="Segoe UI Semibold"/>
              </a:defRPr>
            </a:pPr>
            <a:r>
              <a:t>Use o que faz sentido para você.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Radiologistas podem usar somente Laudos, sem cadastrar consultas ou convênios.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596C66"/>
                </a:solidFill>
                <a:latin typeface="Segoe UI"/>
              </a:defRPr>
            </a:pPr>
            <a:r>
              <a:t>HonorMed  ·  Controle pessoal  ·  capturas com dados fictícios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596C66"/>
                </a:solidFill>
                <a:latin typeface="Segoe UI"/>
              </a:defRPr>
            </a:pPr>
            <a:r>
              <a:t>04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CONSULTAS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Rotina clínica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Quantidade por local e convênio, honorários esperados e recebimentos informados.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LAUDOS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Produção radiológica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Quantidade por instituição e tipo de exame, com tarifa própria por combinação.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AMBOS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Um acesso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Alterne os módulos. Cada um mantém seus próprios registros e recebimentos.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68112"/>
            <a:ext cx="1115568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596C66"/>
                </a:solidFill>
                <a:latin typeface="Segoe UI"/>
              </a:defRPr>
            </a:pPr>
            <a:r>
              <a:t>Laudos é controle de produção e honorários: não emite laudos, não guarda imagens nem texto clínico.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6496" y="256032"/>
            <a:ext cx="914400" cy="2053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1C6860"/>
                </a:solidFill>
                <a:latin typeface="Segoe UI"/>
              </a:defRPr>
            </a:pPr>
            <a:r>
              <a:t>EXEMPLO FICTÍCIO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183B38"/>
                </a:solidFill>
                <a:latin typeface="Segoe UI Semibold"/>
              </a:defRPr>
            </a:pPr>
            <a:r>
              <a:t>Da quantidade ao saldo.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Exemplo didático de um local e um mês de produção.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596C66"/>
                </a:solidFill>
                <a:latin typeface="Segoe UI"/>
              </a:defRPr>
            </a:pPr>
            <a:r>
              <a:t>HonorMed  ·  Controle pessoal  ·  capturas com dados fictícios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596C66"/>
                </a:solidFill>
                <a:latin typeface="Segoe UI"/>
              </a:defRPr>
            </a:pPr>
            <a:r>
              <a:t>05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77440"/>
            <a:ext cx="7132320" cy="3611880"/>
          </a:xfrm>
          <a:prstGeom prst="roundRect">
            <a:avLst>
              <a:gd name="adj" fmla="val 12000"/>
            </a:avLst>
          </a:prstGeom>
          <a:solidFill>
            <a:srgbClr val="1C6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64008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2200" b="0">
                <a:solidFill>
                  <a:srgbClr val="FFFFFF"/>
                </a:solidFill>
                <a:latin typeface="Segoe UI Semibold"/>
              </a:defRPr>
            </a:pPr>
            <a:r>
              <a:t>8 CONSULTAS × R$ 85,00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37560"/>
            <a:ext cx="6400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4400" b="0">
                <a:solidFill>
                  <a:srgbClr val="FFFFFF"/>
                </a:solidFill>
                <a:latin typeface="Segoe UI Semibold"/>
              </a:defRPr>
            </a:pPr>
            <a:r>
              <a:t>R$ 680,00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72000"/>
            <a:ext cx="640080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2200" b="0">
                <a:solidFill>
                  <a:srgbClr val="FFFFFF"/>
                </a:solidFill>
                <a:latin typeface="Segoe UI"/>
              </a:defRPr>
            </a:pPr>
            <a:r>
              <a:t>Recebimento informado: R$ 200,00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2200" b="0">
                <a:solidFill>
                  <a:srgbClr val="FFFFFF"/>
                </a:solidFill>
                <a:latin typeface="Segoe UI"/>
              </a:defRPr>
            </a:pPr>
            <a:r>
              <a:t>Saldo previsto: R$ 480,00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560320"/>
            <a:ext cx="356616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2400" b="0">
                <a:solidFill>
                  <a:srgbClr val="1C6860"/>
                </a:solidFill>
                <a:latin typeface="Segoe UI Semibold"/>
              </a:defRPr>
            </a:pPr>
            <a:r>
              <a:t>Valores conhecidos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3474720" cy="22860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900" b="0">
                <a:solidFill>
                  <a:srgbClr val="596C66"/>
                </a:solidFill>
                <a:latin typeface="Segoe UI"/>
              </a:defRPr>
            </a:pPr>
            <a:r>
              <a:t>Itens sem honorário ficam pendentes.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900" b="0">
                <a:solidFill>
                  <a:srgbClr val="596C66"/>
                </a:solidFill>
                <a:latin typeface="Segoe UI"/>
              </a:defRPr>
            </a:pPr>
          </a:p>
          <a:p>
            <a:pPr>
              <a:lnSpc>
                <a:spcPct val="110000"/>
              </a:lnSpc>
              <a:spcAft>
                <a:spcPts val="600"/>
              </a:spcAft>
              <a:defRPr sz="1900" b="0">
                <a:solidFill>
                  <a:srgbClr val="596C66"/>
                </a:solidFill>
                <a:latin typeface="Segoe UI"/>
              </a:defRPr>
            </a:pPr>
            <a:r>
              <a:t>O cálculo acompanha seus registros, não o extrato do hospital.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6496" y="256032"/>
            <a:ext cx="914400" cy="2053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1C6860"/>
                </a:solidFill>
                <a:latin typeface="Segoe UI"/>
              </a:defRPr>
            </a:pPr>
            <a:r>
              <a:t>ONDE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183B38"/>
                </a:solidFill>
                <a:latin typeface="Segoe UI Semibold"/>
              </a:defRPr>
            </a:pPr>
            <a:r>
              <a:t>Seu controle no celular e no computador.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Aplicativo web com layout adaptado e registro rápido.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596C66"/>
                </a:solidFill>
                <a:latin typeface="Segoe UI"/>
              </a:defRPr>
            </a:pPr>
            <a:r>
              <a:t>HonorMed  ·  Controle pessoal  ·  capturas com dados fictícios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596C66"/>
                </a:solidFill>
                <a:latin typeface="Segoe UI"/>
              </a:defRPr>
            </a:pPr>
            <a:r>
              <a:t>06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Visão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Produção, honorários, recebimentos e dashboard por mês.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EXTENSÃO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Registro rápido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Popup Chromium para registrar quantidade com sua própria conta.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PWA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Atalho no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Instalação disponível; validação em dispositivo físico ainda pendente.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68112"/>
            <a:ext cx="1115568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596C66"/>
                </a:solidFill>
                <a:latin typeface="Segoe UI"/>
              </a:defRPr>
            </a:pPr>
            <a:r>
              <a:t>Consulta e gravação financeira exigem conexão. Extensão ainda sem distribuição em loja.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6496" y="256032"/>
            <a:ext cx="914400" cy="2053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1C6860"/>
                </a:solidFill>
                <a:latin typeface="Segoe UI"/>
              </a:defRPr>
            </a:pPr>
            <a:r>
              <a:t>PRIVACIDADE E AUTONOMIA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183B38"/>
                </a:solidFill>
                <a:latin typeface="Segoe UI Semibold"/>
              </a:defRPr>
            </a:pPr>
            <a:r>
              <a:t>Sem dados de pacientes.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Somente registros de produção e controle financeiro pessoal.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596C66"/>
                </a:solidFill>
                <a:latin typeface="Segoe UI"/>
              </a:defRPr>
            </a:pPr>
            <a:r>
              <a:t>HonorMed  ·  Controle pessoal  ·  capturas com dados fictícios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596C66"/>
                </a:solidFill>
                <a:latin typeface="Segoe UI"/>
              </a:defRPr>
            </a:pPr>
            <a:r>
              <a:t>07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ISOLAMENTO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Sua própria conta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Acesso individual com políticas de isolamento de dados por médico.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PORTABILIDADE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Seus dados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Exportação JSON/CSV e exclusão da própria conta preparadas, ainda não publicadas.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ESCOLHA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Métricas opcionais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Contadores de uso sem valores financeiros, desativados por padrão; ainda não publicados.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68112"/>
            <a:ext cx="1115568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596C66"/>
                </a:solidFill>
                <a:latin typeface="Segoe UI"/>
              </a:defRPr>
            </a:pPr>
            <a:r>
              <a:t>Termos, política, retenção e restauração precisam de revisão/homologação antes de ampliar o piloto.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6496" y="256032"/>
            <a:ext cx="914400" cy="2053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1C6860"/>
                </a:solidFill>
                <a:latin typeface="Segoe UI"/>
              </a:defRPr>
            </a:pPr>
            <a:r>
              <a:t>PROPOSTA INDIVIDUAL · A VALIDAR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183B38"/>
                </a:solidFill>
                <a:latin typeface="Segoe UI Semibold"/>
              </a:defRPr>
            </a:pPr>
            <a:r>
              <a:t>Um ou dois módulos. O mesmo preço.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Preço proposto por médico, sem cobrança ativa no aplicativo.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596C66"/>
                </a:solidFill>
                <a:latin typeface="Segoe UI"/>
              </a:defRPr>
            </a:pPr>
            <a:r>
              <a:t>HonorMed  ·  Controle pessoal  ·  capturas com dados fictícios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596C66"/>
                </a:solidFill>
                <a:latin typeface="Segoe UI"/>
              </a:defRPr>
            </a:pPr>
            <a:r>
              <a:t>08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77440"/>
            <a:ext cx="5468112" cy="2834640"/>
          </a:xfrm>
          <a:prstGeom prst="roundRect">
            <a:avLst>
              <a:gd name="adj" fmla="val 12000"/>
            </a:avLst>
          </a:prstGeom>
          <a:solidFill>
            <a:srgbClr val="1C6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615184"/>
            <a:ext cx="4956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F8F5ED"/>
                </a:solidFill>
                <a:latin typeface="Segoe UI"/>
              </a:defRPr>
            </a:pPr>
            <a:r>
              <a:t>CONTROLE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495604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Segoe UI Semibold"/>
              </a:defRPr>
            </a:pPr>
            <a:r>
              <a:t>R$ 79,90/mês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977639"/>
            <a:ext cx="4956048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FFFFFF"/>
                </a:solidFill>
                <a:latin typeface="Segoe UI"/>
              </a:defRPr>
            </a:pPr>
            <a:r>
              <a:t>Consultas, Laudos ou ambos. Múltiplos locais, honorários e histórico registrado.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77440"/>
            <a:ext cx="5468112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615184"/>
            <a:ext cx="4956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ANTES DE CONTRATAR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017520"/>
            <a:ext cx="495604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Validar no piloto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3977639"/>
            <a:ext cx="4956048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Utilidade, frequência de uso, suporte necessário e disposição a pagar.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68112"/>
            <a:ext cx="1115568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596C66"/>
                </a:solidFill>
                <a:latin typeface="Segoe UI"/>
              </a:defRPr>
            </a:pPr>
            <a:r>
              <a:t>Sem trial ou limites por plano. Equipes e instituições estão no roadmap, sem oferta disponível.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6496" y="256032"/>
            <a:ext cx="914400" cy="2053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1C6860"/>
                </a:solidFill>
                <a:latin typeface="Segoe UI"/>
              </a:defRPr>
            </a:pPr>
            <a:r>
              <a:t>PILOTO ASSISTIDO ·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183B38"/>
                </a:solidFill>
                <a:latin typeface="Segoe UI Semibold"/>
              </a:defRPr>
            </a:pPr>
            <a:r>
              <a:t>Aprender com a rotina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Convite condicionado à preparação operacional e à aprovação dos textos legais.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596C66"/>
                </a:solidFill>
                <a:latin typeface="Segoe UI"/>
              </a:defRPr>
            </a:pPr>
            <a:r>
              <a:t>HonorMed  ·  Controle pessoal  ·  capturas com dados fictícios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596C66"/>
                </a:solidFill>
                <a:latin typeface="Segoe UI"/>
              </a:defRPr>
            </a:pPr>
            <a:r>
              <a:t>09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PARTICIPANTES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5–10 médicos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Consultas, Laudos ou ambos, com acompanhamento de uso.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PERÍODO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30 dias propostos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Observar recorrência, entendimento do saldo e dificuldade para registrar.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APRENDIZADO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Medir e ajustar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Tempo de suporte, falhas e intenção de continuar usando.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68112"/>
            <a:ext cx="1115568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596C66"/>
                </a:solidFill>
                <a:latin typeface="Segoe UI"/>
              </a:defRPr>
            </a:pPr>
            <a:r>
              <a:t>Esse período de observação não é um trial implementado nem uma condição contratual aprovada.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6496" y="256032"/>
            <a:ext cx="914400" cy="2053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1C6860"/>
                </a:solidFill>
                <a:latin typeface="Segoe UI"/>
              </a:defRPr>
            </a:pPr>
            <a:r>
              <a:t>APÊNDICE · ESTADO EM 19/10/2026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183B38"/>
                </a:solidFill>
                <a:latin typeface="Segoe UI Semibold"/>
              </a:defRPr>
            </a:pPr>
            <a:r>
              <a:t>Publicado e preparado são estados diferentes.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Consulte docs/ESTADO-ATUAL.md antes de apresentar ou contratar.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596C66"/>
                </a:solidFill>
                <a:latin typeface="Segoe UI"/>
              </a:defRPr>
            </a:pPr>
            <a:r>
              <a:t>HonorMed  ·  Controle pessoal  ·  capturas com dados fictícios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596C66"/>
                </a:solidFill>
                <a:latin typeface="Segoe UI"/>
              </a:defRPr>
            </a:pPr>
            <a:r>
              <a:t>10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REGISTRO ANTERIOR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Piloto publicado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Cloudflare + Supabase. Controle pessoal, cálculo SQL e RLS individuais.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PRS, SEM 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B1–B6 preparados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Conta, checklist, feedback, métricas, runbooks e materiais alinhados.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E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1C6860"/>
                </a:solidFill>
                <a:latin typeface="Segoe UI"/>
              </a:defRPr>
            </a:pPr>
            <a:r>
              <a:t>PENDÊNCIAS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183B38"/>
                </a:solidFill>
                <a:latin typeface="Segoe UI Semibold"/>
              </a:defRPr>
            </a:pPr>
            <a:r>
              <a:t>Antes de ampliar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596C66"/>
                </a:solidFill>
                <a:latin typeface="Segoe UI"/>
              </a:defRPr>
            </a:pPr>
            <a:r>
              <a:t>Revisão legal, retenção, restauração, credencial de envio, PWA e contratação.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68112"/>
            <a:ext cx="1115568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596C66"/>
                </a:solidFill>
                <a:latin typeface="Segoe UI"/>
              </a:defRPr>
            </a:pPr>
            <a:r>
              <a:t>honormed.emersongsguimaraes.workers.dev · sem nova inspeção remota nesta revisão.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HonorMed — controle pessoal do médico</dc:title>
  <dc:subject>Oferta individual proposta e estado de preparação em 19/10/2026</dc:subject>
  <dc:creator>HonorMed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