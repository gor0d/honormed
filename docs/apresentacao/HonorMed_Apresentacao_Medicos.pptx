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Versão atualizada: HonorMed, com Consultas e Laudos independentes. Controle pessoal, não extrato oficial. Todos os dados são fictícios. Disponibilidade comercial da marca ainda não foi validada. Slides 1–14 para médicos; 15–18 como apêndices.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renda maior, recuperação automática de glosas ou economia já comprovada. Sem dados pessoais de pacientes e sem acesso ao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demo local o botão Entrar não autentica, apenas abre seed. Auth Supabase está implementado mas ainda precisa validação do stack completo. Onboarding não exige vínculo ao MV.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Outubro: 24 consultas, 4 sem honorário, produção conhecida R$ 2.245,00, recebido R$ 500,00 e saldo R$ 1.745,00. Todos fictícios. Alterações no seed durante a demo mudam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depósito, conciliação bancária ou exatidão contra o extrato oficial. O excesso recebido em um local não compensa saldo de outro.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registro representa quantidade, não prontuário nem atendimento hospitalar confirmado. Para evitar duplicidade, corrija a quantidade já lançada em vez de repetir o total do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hipotético. O banco copia o honorário conhecido ao salvar. Configurar honorário preenche os registros ainda sem valor. Alterar a configuração não muda os registros já valorizados; mudar local/convênio de um registro usa o honorário do novo par. A visão importada separada continua oferecendo regra fixa/percentual com vigência.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um depósito abrange vários locais ou meses, registre as parcelas conforme a composição conhecida. Se não souber, confirme a referência antes de atribuir. Não inventar conciliação por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pedir dados de pacientes para configurar. Não afirmar vínculo verificado com hospital por ter cadastrado um local. Sem honorário o registro pessoal já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PWA e temas implementados. Instalação no dispositivo físico ainda não foi validada. Para consultar dados é necessária conexão. Não há controle financeiro offline. Localhost é acessível apenas no computador do servidor, sem deploy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Meu perfil de uso e selecionar Somente laudos. Recarregar a página para demonstrar persistência. A preferência é de experiência, não autorização clínica ou assinatura.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Seed: 75 laudos, 5 sem tarifa, R$ 1.520,00 conhecidos, R$ 300,00 recebidos, R$ 1.220,00 previstos. Tipos de exame personalizáveis. Valores conhecidos são preservados no registro. Apenas controle financeiro: não armazena pacientes, imagens/DICOM ou texto de laudo; não emite laudos e não é PACS/RIS.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fixar preço com o primeiro contato antes de validar utilidade. Valores são hipóteses próprias, não pesquisa de mercado ou contrato aprovado. Recursos avançados de importação são separados da produção pessoal.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com dados fictícios agora. Uso pessoal real depende de validar login, permissões e operação. Integração hospitalar exige autorização própria e descoberta HML. Não condicionar a utilidade do registro pessoal a existir um conector.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em 16/10/2026. Testes SQL usam PostgreSQL PGlite com papel autenticado e RLS. Não há homologação hospitalar, confirmação bancária nem trilha contábil completa. A visão importada é separada para evitar duplicação; não há conciliação automática.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Sugestões anteriores mantidas como hipótese. Não há licença institucional ou painel administrativo implementados. Evitar dupla cobrança individual/institucional. Integração MV/customizações devem ser orçadas após descoberta HML, sem compromisso implícito de entrega por esse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base suficiente para valorar venda integral do software. A autonomia pessoal é distinta da integração hospitalar, que tem custos e requisitos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integração MV foi implementada ou consultada. Registros pessoais não confirmam faturamento, glosa ou pagamento oficial. A futura integração precisa de reconciliação explícita para evitar duplicidades. Consulte docs/REGRAS.md e GUIA-APRESENTADOR.md.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D3EBE4"/>
                </a:solidFill>
                <a:latin typeface="Segoe UI"/>
              </a:defRPr>
            </a:pPr>
            <a:r>
              <a:t>AUTONOMIA PARA QUEM CUIDA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FFFFFF"/>
                </a:solidFill>
                <a:latin typeface="Segoe UI Semibold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D3EBE4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D3EBE4"/>
                </a:solidFill>
                <a:latin typeface="Segoe UI"/>
              </a:defRPr>
            </a:pPr>
            <a:r>
              <a:t>01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731520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6400" b="0">
                <a:solidFill>
                  <a:srgbClr val="FFFFFF"/>
                </a:solidFill>
                <a:latin typeface="Segoe UI Semibold"/>
              </a:defRPr>
            </a:pPr>
            <a:r>
              <a:t>HonorMed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7863840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3000" b="0">
                <a:solidFill>
                  <a:srgbClr val="D3EBE4"/>
                </a:solidFill>
                <a:latin typeface="Segoe UI Semibold"/>
              </a:defRPr>
            </a:pPr>
            <a:r>
              <a:t>Sua produção. Seus recebimentos.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3000" b="0">
                <a:solidFill>
                  <a:srgbClr val="D3EBE4"/>
                </a:solidFill>
                <a:latin typeface="Segoe UI Semibold"/>
              </a:defRPr>
            </a:pPr>
            <a:r>
              <a:t>Seu próprio controle.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0"/>
            <a:ext cx="768096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400"/>
              </a:spcAft>
              <a:defRPr sz="1800" b="0">
                <a:solidFill>
                  <a:srgbClr val="D3EBE4"/>
                </a:solidFill>
                <a:latin typeface="Segoe UI"/>
              </a:defRPr>
            </a:pPr>
            <a:r>
              <a:t>Registre a produção do dia e acompanhe os honorários</a:t>
            </a:r>
          </a:p>
          <a:p>
            <a:pPr>
              <a:lnSpc>
                <a:spcPct val="110000"/>
              </a:lnSpc>
              <a:spcAft>
                <a:spcPts val="400"/>
              </a:spcAft>
              <a:defRPr sz="1800" b="0">
                <a:solidFill>
                  <a:srgbClr val="D3EBE4"/>
                </a:solidFill>
                <a:latin typeface="Segoe UI"/>
              </a:defRPr>
            </a:pPr>
            <a:r>
              <a:t>sem depender de acesso ao administrativo.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86400"/>
            <a:ext cx="4297680" cy="420624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605907"/>
            <a:ext cx="4297680" cy="42062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DEMONSTRAÇÃO DO MVP  ·  CONTROLE PESSOAL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2148840"/>
            <a:ext cx="3200400" cy="868680"/>
          </a:xfrm>
          <a:prstGeom prst="roundRect">
            <a:avLst>
              <a:gd name="adj" fmla="val 50000"/>
            </a:avLst>
          </a:prstGeom>
          <a:solidFill>
            <a:srgbClr val="12332C"/>
          </a:solidFill>
          <a:ln w="12700">
            <a:solidFill>
              <a:srgbClr val="0B7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368296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D3EBE4"/>
                </a:solidFill>
                <a:latin typeface="Segoe UI Semibold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423160"/>
            <a:ext cx="2286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REGISTRAR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3200400"/>
            <a:ext cx="3200400" cy="86868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3419856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D3EBE4"/>
                </a:solidFill>
                <a:latin typeface="Segoe UI Semibold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3474720"/>
            <a:ext cx="2286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PREVER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4251960"/>
            <a:ext cx="3200400" cy="868680"/>
          </a:xfrm>
          <a:prstGeom prst="roundRect">
            <a:avLst>
              <a:gd name="adj" fmla="val 50000"/>
            </a:avLst>
          </a:prstGeom>
          <a:solidFill>
            <a:srgbClr val="12332C"/>
          </a:solidFill>
          <a:ln w="12700">
            <a:solidFill>
              <a:srgbClr val="0B7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4471416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D3EBE4"/>
                </a:solidFill>
                <a:latin typeface="Segoe UI Semibold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4526280"/>
            <a:ext cx="2286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CONFERIR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O VALOR PARA O MÉDICO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Seu controle começa com o que você já sabe.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Uma ferramenta simples para registrar a rotina e acompanhar seus próprios números.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01 / REGISTRAR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Sem planilha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Anote uma consulta ou a quantidade do dia, por local e convênio.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02 / PREVER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Sem depender de relatório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Use os honorários conhecidos para estimar sua produção e seu saldo.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03 / CONFERIR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Sem perder o histórico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Informe os recebimentos e acompanhe o que ainda está previsto.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O benefício esperado é autonomia na conferência. Utilidade e tempo de uso serão avaliados no piloto.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Configure uma vez. Registre em poucos passos.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médico mantém o próprio controle, sem precisar de código do administrativo.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256946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Entre na conta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18211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E-mail, senha, nome e CRM. Código MV é opcional.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26280" y="2514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59689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256946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Cadastre seus locais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18211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Onde atende e quais convênios ou consultas particulares realiza.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28600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2514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59689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56946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Informe o honorário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318211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Valor esperado por consulta. Pode preencher quando souber.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25196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44805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6285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53542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Registre as consultas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14807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Data, local, convênio e quantidade. Uma consulta ou total do 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25196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26280" y="44805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456285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8928" y="453542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Registre recebimentos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14807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Valor, local, mês da produção e data em que recebeu.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4251960"/>
            <a:ext cx="36118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21040" y="44805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4562856"/>
            <a:ext cx="457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33688" y="4535424"/>
            <a:ext cx="2606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800" b="0">
                <a:solidFill>
                  <a:srgbClr val="0E1F1B"/>
                </a:solidFill>
                <a:latin typeface="Segoe UI Semibold"/>
              </a:defRPr>
            </a:pPr>
            <a:r>
              <a:t>Acompanhe o saldo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2" y="5148072"/>
            <a:ext cx="31546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0">
                <a:solidFill>
                  <a:srgbClr val="4A5F59"/>
                </a:solidFill>
                <a:latin typeface="Segoe UI"/>
              </a:defRPr>
            </a:pPr>
            <a:r>
              <a:t>Veja a previsão, consultas sem valor e os detalhes dos registros.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PAINEL PESSOAL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Duas ações. Seus números em primeiro lugar.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Captura real do MVP · outubro de 2026 · dados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231136"/>
            <a:ext cx="7059168" cy="38953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sonal-dashboard-desktop.png"/>
          <p:cNvPicPr>
            <a:picLocks noChangeAspect="1"/>
          </p:cNvPicPr>
          <p:nvPr/>
        </p:nvPicPr>
        <p:blipFill>
          <a:blip r:embed="rId2"/>
          <a:srcRect b="54840"/>
          <a:stretch>
            <a:fillRect/>
          </a:stretch>
        </p:blipFill>
        <p:spPr>
          <a:xfrm>
            <a:off x="502920" y="2286000"/>
            <a:ext cx="6949440" cy="3785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377439"/>
            <a:ext cx="32918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Registrar consultas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34639"/>
            <a:ext cx="329184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Quantidade do dia, local e convênio.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657600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03320"/>
            <a:ext cx="32918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Registrar recebimento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160520"/>
            <a:ext cx="329184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Valor recebido e mês da produção.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983479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029199"/>
            <a:ext cx="32918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Acompanhar o saldo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486399"/>
            <a:ext cx="329184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Produção conhecida menos recebimentos, por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ENTENDA O RESUMO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Produção e recebimento são coisas diferentes.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saldo representa o seu controle pessoal, sem confirmação do hospital.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PRODUÇÃO ESTIMADA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R$ 2.245,00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Quantidade registrada × honorários conhecidos. Consultas sem valor ficam fora da soma.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RECEBIDO INFORMADO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R$ 500,00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Pagamentos registrados por local, convênio e mês de produção.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PREVISTO A RECEBER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R$ 1.745,00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Saldo estimado por local e convênio, considerando os valores conhecidos.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Exemplo fictício de outubro. Há 4 consultas registradas aguardando honorário.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REGISTRO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Não sabe o valor? Registre as consultas assim mesmo.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lançamento pode ser individual ou consolidado ao final do dia.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DATA 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Onde e quando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Selecione a data das consultas e o local de atendimento.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CONVÊNIO E QUANTIDADE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Quanto você atendeu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Exemplo: 8 consultas Unimed na Clínica Central.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HONORÁRIO OPCIONAL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Valor pode esperar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Sem honorário cadastrado, a quantidade fica salva e o valor fica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Sem nome, CPF ou identificação de pacientes. Você pode editar ou excluir lançamentos para corrigir.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EXEMPLO DIDÁTICO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Da produção ao saldo, com clareza.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cálculo do seu controle pessoal usa o honorário esperado por consulta.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7040880" cy="361188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6400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400" b="1">
                <a:solidFill>
                  <a:srgbClr val="D3EBE4"/>
                </a:solidFill>
                <a:latin typeface="Segoe UI"/>
              </a:defRPr>
            </a:pPr>
            <a:r>
              <a:t>8 CONSULTAS × R$ 85,00 DE HONORÁRIO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743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D3EBE4"/>
                </a:solidFill>
                <a:latin typeface="Segoe UI"/>
              </a:defRPr>
            </a:pPr>
            <a:r>
              <a:t>PRODUZIDO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5943600" cy="8229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4600" b="0">
                <a:solidFill>
                  <a:srgbClr val="FFFFFF"/>
                </a:solidFill>
                <a:latin typeface="Segoe UI Semibold"/>
              </a:defRPr>
            </a:pPr>
            <a:r>
              <a:t>R$ 680,00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572000"/>
            <a:ext cx="6355080" cy="18288"/>
          </a:xfrm>
          <a:prstGeom prst="rect">
            <a:avLst/>
          </a:prstGeom>
          <a:solidFill>
            <a:srgbClr val="D3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30175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D3EBE4"/>
                </a:solidFill>
                <a:latin typeface="Segoe UI"/>
              </a:defRPr>
            </a:pPr>
            <a:r>
              <a:t>RECEBIMENTO INFORMADO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301752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Segoe UI Semibold"/>
              </a:defRPr>
            </a:pPr>
            <a:r>
              <a:t>R$ 200,00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800600"/>
            <a:ext cx="30175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D3EBE4"/>
                </a:solidFill>
                <a:latin typeface="Segoe UI"/>
              </a:defRPr>
            </a:pPr>
            <a:r>
              <a:t>SALDO PREVISTO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102352"/>
            <a:ext cx="301752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Segoe UI Semibold"/>
              </a:defRPr>
            </a:pPr>
            <a:r>
              <a:t>R$ 480,00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1460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100" b="0">
                <a:solidFill>
                  <a:srgbClr val="0B7A66"/>
                </a:solidFill>
                <a:latin typeface="Segoe UI Semibold"/>
              </a:defRPr>
            </a:pPr>
            <a:r>
              <a:t>Honorário líquido esperado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017520"/>
            <a:ext cx="3566160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Informe o valor por consulta já considerando os descontos que conhece.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43484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100" b="0">
                <a:solidFill>
                  <a:srgbClr val="0B7A66"/>
                </a:solidFill>
                <a:latin typeface="Segoe UI Semibold"/>
              </a:defRPr>
            </a:pPr>
            <a:r>
              <a:t>Valores preservados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937760"/>
            <a:ext cx="356616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Registros com honorário mantêm o valor usado no lançamento.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RECEBIMENTOS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O mês da produção pode ser diferente do pagamento.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Você informa a que período o dinheiro recebido se refere.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PERÍODO DE REFERÊNCIA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Produção de outubro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Escolha o mês das consultas às quais o pagamento se refere.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ENTRADA DO DINHEIRO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Recebido em novembro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Informe convênio, local, data real e valor, mesmo que parcial.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ACOMPANHAMENTO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Saldo de outubro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valor reduz o saldo daquele local e período, sem alterar novembro.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O lançamento abate o saldo daquele local e convênio; não marca consultas individuais como pagas.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AJUSTES SIMPLES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Uma configuração para cada rotina.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Locais e convênios podem ter honorários diferentes.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09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ONDE ATENDE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Seus locais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Cadastre consultórios, clínicas ou hospitais pelos nomes que usa.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O QUE ATENDE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Seus convênios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Inclua Particular quando fizer consultas particulares.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QUANTO ESPERA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Seus honorários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Preencha por local e convênio. Novos registros usam o valor configurado.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Salvar honorário também preenche registros ainda sem valor. A tela avisa esse efeito.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NO CELULAR E NO COMPUTADOR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O seu controle acompanha a sua rotina.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Quatro áreas: Início, Produção, Recebimentos e Ajustes.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10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2743200" cy="4069080"/>
          </a:xfrm>
          <a:prstGeom prst="roundRect">
            <a:avLst>
              <a:gd name="adj" fmla="val 10000"/>
            </a:avLst>
          </a:prstGeom>
          <a:solidFill>
            <a:srgbClr val="0E1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sonal-dashboard-mobile.png"/>
          <p:cNvPicPr>
            <a:picLocks noChangeAspect="1"/>
          </p:cNvPicPr>
          <p:nvPr/>
        </p:nvPicPr>
        <p:blipFill>
          <a:blip r:embed="rId2"/>
          <a:srcRect b="77079"/>
          <a:stretch>
            <a:fillRect/>
          </a:stretch>
        </p:blipFill>
        <p:spPr>
          <a:xfrm>
            <a:off x="941832" y="2423160"/>
            <a:ext cx="2505456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0" y="2514600"/>
            <a:ext cx="69494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800" b="0">
                <a:solidFill>
                  <a:srgbClr val="0B7A66"/>
                </a:solidFill>
                <a:latin typeface="Segoe UI Semibold"/>
              </a:defRPr>
            </a:pPr>
            <a:r>
              <a:t>No celular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108960"/>
            <a:ext cx="69494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400"/>
              </a:spcAft>
              <a:defRPr sz="2000" b="0">
                <a:solidFill>
                  <a:srgbClr val="0E1F1B"/>
                </a:solidFill>
                <a:latin typeface="Segoe UI"/>
              </a:defRPr>
            </a:pPr>
            <a:r>
              <a:t>Registre a produção ao final do dia</a:t>
            </a:r>
          </a:p>
          <a:p>
            <a:pPr>
              <a:lnSpc>
                <a:spcPct val="110000"/>
              </a:lnSpc>
              <a:spcAft>
                <a:spcPts val="400"/>
              </a:spcAft>
              <a:defRPr sz="2000" b="0">
                <a:solidFill>
                  <a:srgbClr val="0E1F1B"/>
                </a:solidFill>
                <a:latin typeface="Segoe UI"/>
              </a:defRPr>
            </a:pPr>
            <a:r>
              <a:t>e consulte seus números em poucos toques.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617720"/>
            <a:ext cx="69494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800" b="0">
                <a:solidFill>
                  <a:srgbClr val="0B7A66"/>
                </a:solidFill>
                <a:latin typeface="Segoe UI Semibold"/>
              </a:defRPr>
            </a:pPr>
            <a:r>
              <a:t>No computador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212080"/>
            <a:ext cx="69494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400"/>
              </a:spcAft>
              <a:defRPr sz="2000" b="0">
                <a:solidFill>
                  <a:srgbClr val="0E1F1B"/>
                </a:solidFill>
                <a:latin typeface="Segoe UI"/>
              </a:defRPr>
            </a:pPr>
            <a:r>
              <a:t>Filtre registros e confira os valores</a:t>
            </a:r>
          </a:p>
          <a:p>
            <a:pPr>
              <a:lnSpc>
                <a:spcPct val="110000"/>
              </a:lnSpc>
              <a:spcAft>
                <a:spcPts val="400"/>
              </a:spcAft>
              <a:defRPr sz="2000" b="0">
                <a:solidFill>
                  <a:srgbClr val="0E1F1B"/>
                </a:solidFill>
                <a:latin typeface="Segoe UI"/>
              </a:defRPr>
            </a:pPr>
            <a:r>
              <a:t>por local, convênio 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PERFIL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Seu trabalho define o que aparece.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médico escolhe os módulos que fazem sentido para sua rotina.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CONSULTAS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Atendimento clínico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Produção por local e convênio, honorários e recebimentos de consultas.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D3EBE4"/>
                </a:solidFill>
                <a:latin typeface="Segoe UI"/>
              </a:defRPr>
            </a:pPr>
            <a:r>
              <a:t>LAUDOS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Segoe UI Semibold"/>
              </a:defRPr>
            </a:pPr>
            <a:r>
              <a:t>Produção radiológica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Segoe UI"/>
              </a:defRPr>
            </a:pPr>
            <a:r>
              <a:t>Dashboard, quantidade por tipo de exame e tarifa por instituição. Não exige consultas.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AMBOS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Um perfil, dois módulos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Alterne Consultas e Laudos. Cada módulo mantém produção e pagamentos separados.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A escolha fica salva. Pode mudar depois sem apagar dados. Nenhum radiologista precisa cadastrar convênios.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LAUDOS RADIOLÓGICOS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Da instituição ao dashboard, sem planilhas.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Captura real do módulo de Laudos · dados fictícios de outubro de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231136"/>
            <a:ext cx="7059168" cy="38953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diology-dashboard-desktop.png"/>
          <p:cNvPicPr>
            <a:picLocks noChangeAspect="1"/>
          </p:cNvPicPr>
          <p:nvPr/>
        </p:nvPicPr>
        <p:blipFill>
          <a:blip r:embed="rId2"/>
          <a:srcRect b="65887"/>
          <a:stretch>
            <a:fillRect/>
          </a:stretch>
        </p:blipFill>
        <p:spPr>
          <a:xfrm>
            <a:off x="502920" y="2286000"/>
            <a:ext cx="6949440" cy="3785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377439"/>
            <a:ext cx="329184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Tarifa por instituição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34639"/>
            <a:ext cx="329184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O mesmo exame pode ter valores diferentes em cada clínica.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657600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03320"/>
            <a:ext cx="329184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Registro por quantidade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160520"/>
            <a:ext cx="329184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Data, instituição, tipo de exame e total de laudos.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983479"/>
            <a:ext cx="457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2400" b="0">
                <a:solidFill>
                  <a:srgbClr val="0B7A66"/>
                </a:solidFill>
                <a:latin typeface="Segoe UI Semibold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029199"/>
            <a:ext cx="329184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900" b="0">
                <a:solidFill>
                  <a:srgbClr val="0E1F1B"/>
                </a:solidFill>
                <a:latin typeface="Segoe UI Semibold"/>
              </a:defRPr>
            </a:pPr>
            <a:r>
              <a:t>Recebimento próprio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486399"/>
            <a:ext cx="329184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Pagamento de laudos não reduz saldo de Consultas.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PROPOSTA COMERCIAL · A VALIDAR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Consultas, Laudos ou ambos. Você escolhe.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No MVP todos os recursos estão liberados. Cobrança e limites por plano não foram implementados.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PARA CONHECER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Free · R$ 0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Proposta: um local, mês atual e controle básico no módulo escolhido.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D3EBE4"/>
                </a:solidFill>
                <a:latin typeface="Segoe UI"/>
              </a:defRPr>
            </a:pPr>
            <a:r>
              <a:t>PARA ACOMPANHAR A ROTINA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Segoe UI Semibold"/>
              </a:defRPr>
            </a:pPr>
            <a:r>
              <a:t>Pro · R$ 79,90/mês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FFFFFF"/>
                </a:solidFill>
                <a:latin typeface="Segoe UI"/>
              </a:defRPr>
            </a:pPr>
            <a:r>
              <a:t>Por médico: Consultas, Laudos ou ambos. Múltiplos locais, tipos de exame e histórico com dados registrados.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Preços sugeridos para discussão, sem oferta ativa. Integração hospitalar não está automaticamente incluída.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CONVERSA COM O MÉDICO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Vamos testar com a rotina de quem vai usar.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Primeiro, entender o dia a dia. Depois, demonstrar com um exemplo simples.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01 /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Como você atende?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Um local ou vários? Faz sentido registrar o total ao final do dia?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02 / DEMONSTRAR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Uma rotina 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Registrar consultas → acompanhar produção → informar recebimento.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03 / 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O que faltou?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Foi simples? O saldo ajudou? O que faria você continuar usando?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Proposta de piloto: 5–10 médicos, 30 dias de uso controlado após a validação técnica.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APÊNDICE · SITUAÇÃO ATUAL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Demonstrável hoje. Validações antes de operar.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A atualização prioriza autonomia do médico e mantém integração como possibilidade futura.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CONTROLE PESSOAL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Disponível no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Quantidade por local/convênio; honorário pendente; produção; recebimento parcial; correções; filtros; cálculo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PRÓXIMAS VALIDAÇÕES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Antes da operação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Validar Auth/Supabase hospedado, implantação, segurança operacional, suporte e uso em dispositivo físico.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1115568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0B7A66"/>
                </a:solidFill>
                <a:latin typeface="Segoe UI Semibold"/>
              </a:defRPr>
            </a:pPr>
            <a:r>
              <a:t>Build aprovado · 27 testes SQL/RLS · 12 testes de navegador · sem conexão Oracle.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APÊNDICE · PROPOSTA INSTITUCIONAL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O hospital pode custear o acesso dos médicos.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Uma proposta futura condicionada ao escopo e à descoberta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6812280" cy="347472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621792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REFERÊNCIA COMERCIAL · SUJEITA À APROVAÇÃO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47872"/>
            <a:ext cx="61264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3800" b="0">
                <a:solidFill>
                  <a:srgbClr val="FFFFFF"/>
                </a:solidFill>
                <a:latin typeface="Segoe UI Semibold"/>
              </a:defRPr>
            </a:pPr>
            <a:r>
              <a:t>R$ 1.990,00/mês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61264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Até 50 médicos de uma instituição.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Implantação inicial sugerida: R$ 4.900.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743200"/>
            <a:ext cx="38404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2300" b="0">
                <a:solidFill>
                  <a:srgbClr val="0B7A66"/>
                </a:solidFill>
                <a:latin typeface="Segoe UI Semibold"/>
              </a:defRPr>
            </a:pPr>
            <a:r>
              <a:t>Definir antes de contratar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657600"/>
            <a:ext cx="3749039" cy="21031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800" b="0">
                <a:solidFill>
                  <a:srgbClr val="4A5F59"/>
                </a:solidFill>
                <a:latin typeface="Segoe UI"/>
              </a:defRPr>
            </a:pPr>
            <a:r>
              <a:t>• Escopo e custos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800" b="0">
                <a:solidFill>
                  <a:srgbClr val="4A5F59"/>
                </a:solidFill>
                <a:latin typeface="Segoe UI"/>
              </a:defRPr>
            </a:pPr>
            <a:r>
              <a:t>• Integração e autorização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800" b="0">
                <a:solidFill>
                  <a:srgbClr val="4A5F59"/>
                </a:solidFill>
                <a:latin typeface="Segoe UI"/>
              </a:defRPr>
            </a:pPr>
            <a:r>
              <a:t>• Suporte e disponibilidade</a:t>
            </a:r>
          </a:p>
          <a:p>
            <a:pPr>
              <a:lnSpc>
                <a:spcPct val="110000"/>
              </a:lnSpc>
              <a:spcAft>
                <a:spcPts val="600"/>
              </a:spcAft>
              <a:defRPr sz="1800" b="0">
                <a:solidFill>
                  <a:srgbClr val="4A5F59"/>
                </a:solidFill>
                <a:latin typeface="Segoe UI"/>
              </a:defRPr>
            </a:pPr>
            <a:r>
              <a:t>• Quem paga os acessos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APÊNDICE · VIABILIDADE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Validar utilidade antes de fixar preços.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O valor está em autonomia, organização e clareza do próprio controle.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USO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Vale registrar?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Medir frequência, dificuldade e tempo para lançar o total do dia.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PREÇO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Faz sentido pagar?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Testar a hipótese de R$ 79,90/mês sem prometer benefícios comprovados.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377440"/>
            <a:ext cx="36118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615184"/>
            <a:ext cx="3099816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SUSTENTAÇÃO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17520"/>
            <a:ext cx="30998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Quanto custa servir?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977639"/>
            <a:ext cx="3099816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Estimar hospedagem, suporte, aquisição, tributos e manutenção.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100 assinantes × R$ 79,90 = R$ 7.990,00/mês de receita bruta. Exemplo, não projeção ou lucro.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050" b="1">
                <a:solidFill>
                  <a:srgbClr val="0B7A66"/>
                </a:solidFill>
                <a:latin typeface="Segoe UI"/>
              </a:defRPr>
            </a:pPr>
            <a:r>
              <a:t>APÊNDICE · LIMITES DA INFORMAÇÃO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200" b="0">
                <a:solidFill>
                  <a:srgbClr val="0E1F1B"/>
                </a:solidFill>
                <a:latin typeface="Segoe UI Semibold"/>
              </a:defRPr>
            </a:pPr>
            <a:r>
              <a:t>Seu registro é uma referência pessoal.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0642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As fontes devem continuar separadas e identificadas.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0">
                <a:solidFill>
                  <a:srgbClr val="4A5F59"/>
                </a:solidFill>
                <a:latin typeface="Segoe UI"/>
              </a:defRPr>
            </a:pPr>
            <a:r>
              <a:t>HonorMed  ·  Controle pessoal  ·  dados fictícios  · 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2801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  <a:defRPr sz="1000" b="1">
                <a:solidFill>
                  <a:srgbClr val="4A5F59"/>
                </a:solidFill>
                <a:latin typeface="Segoe UI"/>
              </a:defRPr>
            </a:pPr>
            <a:r>
              <a:t>18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FLUXO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Informado por você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Produção e recebimentos registrados pelo médico. Sem nome/CPF de paciente. Pode corrigir os próprios lançamentos.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77440"/>
            <a:ext cx="5468112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615184"/>
            <a:ext cx="4956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100" b="1">
                <a:solidFill>
                  <a:srgbClr val="0B7A66"/>
                </a:solidFill>
                <a:latin typeface="Segoe UI"/>
              </a:defRPr>
            </a:pPr>
            <a:r>
              <a:t>SEM DUPLICAR 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3017520"/>
            <a:ext cx="495604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2200" b="0">
                <a:solidFill>
                  <a:srgbClr val="0E1F1B"/>
                </a:solidFill>
                <a:latin typeface="Segoe UI Semibold"/>
              </a:defRPr>
            </a:pPr>
            <a:r>
              <a:t>Visão importada separada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977639"/>
            <a:ext cx="4956048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1600" b="0">
                <a:solidFill>
                  <a:srgbClr val="4A5F59"/>
                </a:solidFill>
                <a:latin typeface="Segoe UI"/>
              </a:defRPr>
            </a:pPr>
            <a:r>
              <a:t>CSV/XLSX e regras avançadas em outra área. Os totais não são somados automaticamente ao controle pessoal.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1115568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1500" b="0">
                <a:solidFill>
                  <a:srgbClr val="4A5F59"/>
                </a:solidFill>
                <a:latin typeface="Segoe UI"/>
              </a:defRPr>
            </a:pPr>
            <a:r>
              <a:t>Base: plano, regras e registro de validação do projeto · versão de 16/10/2026.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HonorMed — controle pessoal do médico</dc:title>
  <dc:subject>Produção por quantidade e recebimentos informados pelo médico</dc:subject>
  <dc:creator>HonorMed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