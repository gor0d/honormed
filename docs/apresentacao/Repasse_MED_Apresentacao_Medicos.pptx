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como demonstração funcional com dados fictícios. Não há conexão com o MV nem cálculo oficial de pagamento. Duração sugerida: 8–12 minutos nos slides 1–12. Slides seguintes são apêndices para discussão comercial e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prometer aumento de renda, recuperação automática de glosas ou economia de tempo já comprovada. O valor do produto é tornar a composição visível e orientar a conferência.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piloto, a configuração contratual deve ser conferida com o financeiro do hospital. Não apresentar o CRM digitado como vínculo de identidade já verificado. Login real Supabase implementado, mas a validação do stack completo está 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captura mostra R$ 7.413,00 de previsão em novembro. São números fictícios, sem significado contratual. Se usar a demo ao vivo, mudanças de regras/importação podem alterar os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barra de meta usa previsto + pago. Glosa parcial mantém o saldo líquido na previsão; essa semântica depende da validação do hospital. Não prometer data de depósito nem valor garantido.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navegação Por convênio e depois Atendimentos. Abra o detalhe de uma consulta. Não há nome/CPF do paciente: o identificador de conferência é o código do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hipotético, sem relação com contrato real. Dedução é aplicada antes da glosa; arredondamento por atendimento em centavos. Glosa integral resulta em zero. Sem regra resulta em valor pendente, não em repasse confirmado de zero. O cálculo está centralizado em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status atuais vêm dos dados importados ou fictícios. A fonte de cada status e sua atualização automática serão mapeadas com o hospital na integração. Não sugerir que o MVP já confirma liquidação bancária.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Arquivos originais são lidos no navegador; somente campos permitidos são enviados. Cabeçalhos com indicação de dados pessoais são rejeitados. Isso não equivale a certificação LGPD. O código de atendimento ainda requer proteção e governança. RLS foi testado no PostgreSQL; Auth nativo e operação hospedada continuam 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PWA com manifest e service worker implementados. Instalação depende de HTTPS/localhost e navegador compatível e ainda não foi validada em dispositivo físico. Sem conexão, a aplicação exige reconectar para consultar dados; não prometer consulta financeira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R$ 49,90 é hipótese comercial nossa, não preço aprovado ou ativo na aplicação. Não alterar a tela atual nem afirmar contratação disponível. Integração hospitalar não está incluída automaticamente no plano individual: depende de acordo institucional e validação técnica. Histórico só existirá para períodos com dados carregados; exportação não é prometida.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Trinta dias gratuitos são uma proposta de piloto a aprovar, sem compromisso de implantação em data fixa. Os 30 dias de uso real só começam após os requisitos de segurança e conciliação estarem atendidos. Não anunciar integrações ou descontos garantidos.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docs/VALIDACAO.md, resultado de 16/10/2026. Não afirmar certificação de segurança, garantia de exatidão hospitalar ou validação em dispositivo físico. Conector MV ausente. Não há fechamento contábil/snapshot histórico; alterações de regras recalculam a previsão.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valores são hipóteses para negociação e não tabela de mercado, orçamento fechado ou valuation. Licença institucional e permissões administrativas ainda não foram implementadas. Não somar automaticamente a mensalidade institucional à individual: escolher quem contrata e evitar cobrança dupla. Integrações customizadas, rede hospitalar, migração, SLA e esforço fora do escopo devem ser estimados após a Fase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equiparar o produto a um ERP, prontuário ou sistema de clínica completo. A consulta pública ao iClinic confirma oferta adjacente de gestão/repasse, mas não valida nosso preço. Para avaliar venda integral do software, levantar propriedade intelectual, receita recorrente, contratos, custos, passivos e esforço restante; não inventar um 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web realizada nesta preparação, em 16/10/2026. Referência de categoria, não comparativo equivalente nem recomendação de concorrente. Valores de Repasse MED são sugestões próprias ainda não aprovadas. Documentos locais: docs/PLANO.md, docs/REGRAS.md, docs/VALIDACAO.md, docs/FASE-3.md e docs/apresentacao/GUIA-APRESENTADOR.md.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3EBE4"/>
                </a:solidFill>
                <a:latin typeface="Manrope"/>
              </a:defRPr>
            </a:pPr>
            <a:r>
              <a:t>CLAREZA PARA QUEM CUIDA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FFFFF"/>
                </a:solidFill>
                <a:latin typeface="Bricolage Grotesque"/>
              </a:defRPr>
            </a:pPr>
            <a:r>
              <a:t>Seu trabalho em números.</a:t>
            </a:r>
          </a:p>
          <a:p>
            <a:pPr>
              <a:spcAft>
                <a:spcPts val="900"/>
              </a:spcAft>
              <a:defRPr sz="3200" b="1">
                <a:solidFill>
                  <a:srgbClr val="FFFFFF"/>
                </a:solidFill>
                <a:latin typeface="Bricolage Grotesque"/>
              </a:defRPr>
            </a:pPr>
            <a:r>
              <a:t>Seu repasse com mais clareza.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D3EBE4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D3EBE4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6400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FFFFFF"/>
                </a:solidFill>
                <a:latin typeface="Bricolage Grotesque"/>
              </a:defRPr>
            </a:pPr>
            <a:r>
              <a:t>Repasse 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731520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D3EBE4"/>
                </a:solidFill>
                <a:latin typeface="Manrope"/>
              </a:defRPr>
            </a:pPr>
            <a:r>
              <a:t>Acompanhe a produção ambulatorial, entenda a previsão</a:t>
            </a:r>
          </a:p>
          <a:p>
            <a:pPr>
              <a:spcAft>
                <a:spcPts val="900"/>
              </a:spcAft>
              <a:defRPr sz="2100" b="0">
                <a:solidFill>
                  <a:srgbClr val="D3EBE4"/>
                </a:solidFill>
                <a:latin typeface="Manrope"/>
              </a:defRPr>
            </a:pPr>
            <a:r>
              <a:t>e identifique o que merece atenção.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5669280" cy="475488"/>
          </a:xfrm>
          <a:prstGeom prst="roundRect">
            <a:avLst>
              <a:gd name="adj" fmla="val 12000"/>
            </a:avLst>
          </a:prstGeom>
          <a:solidFill>
            <a:srgbClr val="0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14416"/>
            <a:ext cx="530352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Manrope"/>
              </a:defRPr>
            </a:pPr>
            <a:r>
              <a:t>APRESENTAÇÃO DO MVP  •  VALIDAÇÃO COM MÉDICOS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920240"/>
            <a:ext cx="1965960" cy="3566160"/>
          </a:xfrm>
          <a:prstGeom prst="roundRect">
            <a:avLst>
              <a:gd name="adj" fmla="val 12000"/>
            </a:avLst>
          </a:prstGeom>
          <a:solidFill>
            <a:srgbClr val="0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2468880"/>
            <a:ext cx="1554480" cy="2560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FFFFFF"/>
                </a:solidFill>
                <a:latin typeface="Bricolage Grotesque"/>
              </a:defRPr>
            </a:pPr>
            <a:r>
              <a:t>PREVER</a:t>
            </a:r>
          </a:p>
          <a:p>
            <a:pPr>
              <a:spcAft>
                <a:spcPts val="900"/>
              </a:spcAft>
              <a:defRPr sz="2300" b="1">
                <a:solidFill>
                  <a:srgbClr val="FFFFFF"/>
                </a:solidFill>
                <a:latin typeface="Bricolage Grotesque"/>
              </a:defRPr>
            </a:pPr>
            <a:r>
              <a:t>CONFERIR</a:t>
            </a:r>
          </a:p>
          <a:p>
            <a:pPr>
              <a:spcAft>
                <a:spcPts val="900"/>
              </a:spcAft>
              <a:defRPr sz="2300" b="1">
                <a:solidFill>
                  <a:srgbClr val="FFFFFF"/>
                </a:solidFill>
                <a:latin typeface="Bricolage Grotesque"/>
              </a:defRPr>
            </a:pPr>
            <a:r>
              <a:t>PLANEJAR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O VALOR PARA O MÉDICO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Mais clareza em três momentos do mês.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Uma visão pessoal da produção, dos valores previstos e dos pontos de atenção.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01 / PLANEJAMENTO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Antes de receber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Veja a previsão da competência e acompanhe sua meta.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02 / TRANSPARÊNCIA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Ao conferir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Entenda a composição por convênio, regra e atendimento.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03 / FOCO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Ao agir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Identifique glosas e consultas sem regra para discutir com o hospital.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15000"/>
            <a:ext cx="10789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Benefícios esperados: menos conferência dispersa e mais previsibilidade. Serão medidos no piloto.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Da entrada à conferência, em seis passos.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No dia a dia, o médico acompanha os números; o hospital confirma os dados e as regras.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7860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7860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Entre na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4553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E-mail e senha. Na demo local, o botão Entrar abre dados fictícios.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2316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57860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57860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Complete seu perfil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4553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CRM e código de prestador. Vínculo com o hospital ainda será validado.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57860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57860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Receba os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4553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Hoje: seed ou importação CSV/XLSX. Integração MV: etapa futura.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36168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36168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Confira as regras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2861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Valor fixo ou percentual, vigência e dedução por convênio.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0624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436168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36168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Escolha a competência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92861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Veja a previsão, o que já foi pago e a evolução da meta.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206240"/>
            <a:ext cx="36118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2" y="4361688"/>
            <a:ext cx="3657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B7A66"/>
                </a:solidFill>
                <a:latin typeface="Manrope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4361688"/>
            <a:ext cx="27432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E1F1B"/>
                </a:solidFill>
                <a:latin typeface="Manrope"/>
              </a:defRPr>
            </a:pPr>
            <a:r>
              <a:t>Investigue os detalhes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928616"/>
            <a:ext cx="3246120" cy="6949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2655F"/>
                </a:solidFill>
                <a:latin typeface="Manrope"/>
              </a:defRPr>
            </a:pPr>
            <a:r>
              <a:t>Filtre atendimentos e confira glosas ou valores sem regra.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PAINEL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O essencial aparece primeiro.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Captura real do MVP · novembro de 2026 · dados fictícios.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04</a:t>
            </a:r>
          </a:p>
        </p:txBody>
      </p:sp>
      <p:pic>
        <p:nvPicPr>
          <p:cNvPr id="7" name="Picture 6" descr="dashboard-desktop.png"/>
          <p:cNvPicPr>
            <a:picLocks noChangeAspect="1"/>
          </p:cNvPicPr>
          <p:nvPr/>
        </p:nvPicPr>
        <p:blipFill>
          <a:blip r:embed="rId2"/>
          <a:srcRect b="59615"/>
          <a:stretch>
            <a:fillRect/>
          </a:stretch>
        </p:blipFill>
        <p:spPr>
          <a:xfrm>
            <a:off x="502920" y="2423160"/>
            <a:ext cx="7589520" cy="3730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2560320"/>
            <a:ext cx="3108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B7A66"/>
                </a:solidFill>
                <a:latin typeface="Manrope"/>
              </a:defRPr>
            </a:pPr>
            <a:r>
              <a:t>01  A receber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017520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Previsão líquida ainda não paga na competência.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886200"/>
            <a:ext cx="3108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B7A66"/>
                </a:solidFill>
                <a:latin typeface="Manrope"/>
              </a:defRPr>
            </a:pPr>
            <a:r>
              <a:t>02  Meta e indicadores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4343400"/>
            <a:ext cx="310896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Produção, ticket médio e valores recebidos.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5166360"/>
            <a:ext cx="31089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B7A66"/>
                </a:solidFill>
                <a:latin typeface="Manrope"/>
              </a:defRPr>
            </a:pPr>
            <a:r>
              <a:t>03  Alertas acionáveis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5577840"/>
            <a:ext cx="310896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Consultas sem regra e glosas para conferir.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LEIA OS NÚMEROS CORRETAMENTE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“A receber” é uma previsão.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O valor ajuda a planejar; a conferência oficial continua com o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9748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PREVISÃO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5468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A receber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8620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Soma líquida dos atendimentos ainda não pagos. Inclui agendados.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51460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69748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REALIZADO FINANCEIRO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5468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Já recebido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88620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Soma dos atendimentos com status pago. Aparece separada da previsão.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51460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69748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MÊS DE REFERÊNCIA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15468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Competência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88620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Na importação atual, corresponde ao mês do atendimento. O hospital validará o critério definitivo.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32120"/>
            <a:ext cx="11155680" cy="502920"/>
          </a:xfrm>
          <a:prstGeom prst="roundRect">
            <a:avLst>
              <a:gd name="adj" fmla="val 12000"/>
            </a:avLst>
          </a:prstGeom>
          <a:solidFill>
            <a:srgbClr val="D3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789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B7A66"/>
                </a:solidFill>
                <a:latin typeface="Manrope"/>
              </a:defRPr>
            </a:pPr>
            <a:r>
              <a:t>Atendimento agendado pode não acontecer. Uma consulta sem regra fica fora da soma e gera alerta.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POR CONVÊNIO E ATENDIMENTO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Entenda de onde vem cada valor.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A visão consolidada dá contexto. O detalhe permite conferir a composição.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VISÃO CONSOLIDADA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Por convênio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Quantidade de consultas, valor de referência, honorário, subtotal e ticket médio.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6032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74320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CONFERÊNCIA PONTUAL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20040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Por atendimento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3192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Código, data, convênio, status, origem do dado e regra utilizada. Filtros por convênio, status e 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50992"/>
            <a:ext cx="10789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Se houver dedução, glosa ou mudança de regra, o subtotal considera cada atendimento individualmente.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EXEMPLO DIDÁTICO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Como o repasse é calculado.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Dois modelos de regra: valor fixo em reais ou percentual sobre o valor da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7040880" cy="3401568"/>
          </a:xfrm>
          <a:prstGeom prst="roundRect">
            <a:avLst>
              <a:gd name="adj" fmla="val 12000"/>
            </a:avLst>
          </a:prstGeom>
          <a:solidFill>
            <a:srgbClr val="0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64008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FFFFF"/>
                </a:solidFill>
                <a:latin typeface="Manrope"/>
              </a:defRPr>
            </a:pPr>
            <a:r>
              <a:t>CONSULTA DE R$ 200,00  ×  HONORÁRIO DE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54864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4200" b="1">
                <a:solidFill>
                  <a:srgbClr val="FFFFFF"/>
                </a:solidFill>
                <a:latin typeface="Bricolage Grotesque"/>
              </a:defRPr>
            </a:pPr>
            <a:r>
              <a:t>R$ 120,00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640080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− dedução de 10%  →  R$ 108,00</a:t>
            </a:r>
          </a:p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− glosa parcial de 50%  →  R$ 54,00 líquidos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97480"/>
            <a:ext cx="338328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B7A66"/>
                </a:solidFill>
                <a:latin typeface="Manrope"/>
              </a:defRPr>
            </a:pPr>
            <a:r>
              <a:t>Regra fixa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46120"/>
            <a:ext cx="3383280" cy="8229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55F"/>
                </a:solidFill>
                <a:latin typeface="Manrope"/>
              </a:defRPr>
            </a:pPr>
            <a:r>
              <a:t>Substitui o percentual por um honorário em reais.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343400"/>
            <a:ext cx="338328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B7A66"/>
                </a:solidFill>
                <a:latin typeface="Manrope"/>
              </a:defRPr>
            </a:pPr>
            <a:r>
              <a:t>Vigência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892040"/>
            <a:ext cx="3383280" cy="8229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55F"/>
                </a:solidFill>
                <a:latin typeface="Manrope"/>
              </a:defRPr>
            </a:pPr>
            <a:r>
              <a:t>A regra deve estar válida na data do atendimento.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CICLO DE RECEBIMENTO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Status ajudam a orientar a conferência.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O gráfico mostra quantidades por etapa; a legenda também informa valores líquidos.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91440" cy="365760"/>
          </a:xfrm>
          <a:prstGeom prst="rect">
            <a:avLst/>
          </a:prstGeom>
          <a:solidFill>
            <a:srgbClr val="9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Agendado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Consulta prevista. Ainda pode mudar.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6888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2651760"/>
            <a:ext cx="91440" cy="365760"/>
          </a:xfrm>
          <a:prstGeom prst="rect">
            <a:avLst/>
          </a:prstGeom>
          <a:solidFill>
            <a:srgbClr val="786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65176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Realizado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Consulta registrada como realizada.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6888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2651760"/>
            <a:ext cx="91440" cy="365760"/>
          </a:xfrm>
          <a:prstGeom prst="rect">
            <a:avLst/>
          </a:prstGeom>
          <a:solidFill>
            <a:srgbClr val="C98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65176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A faturar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4612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Pendente de faturamento.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343400"/>
            <a:ext cx="91440" cy="36576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4340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Faturado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3776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Faturamento registrado.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6052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4343400"/>
            <a:ext cx="91440" cy="365760"/>
          </a:xfrm>
          <a:prstGeom prst="rect">
            <a:avLst/>
          </a:prstGeom>
          <a:solidFill>
            <a:srgbClr val="C64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434340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Glosado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93776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Glosa total ou parcial para conferir.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160520"/>
            <a:ext cx="3611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4343400"/>
            <a:ext cx="91440" cy="365760"/>
          </a:xfrm>
          <a:prstGeom prst="rect">
            <a:avLst/>
          </a:prstGeom>
          <a:solidFill>
            <a:srgbClr val="0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343400"/>
            <a:ext cx="29718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E1F1B"/>
                </a:solidFill>
                <a:latin typeface="Manrope"/>
              </a:defRPr>
            </a:pPr>
            <a:r>
              <a:t>Pago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937760"/>
            <a:ext cx="32461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Repasse marcado como recebido.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ENTRADA DE DADOS E CUIDADO COM A INFORMAÇÃO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Importe apenas o necessário.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O MVP já aceita CSV/XLSX; a sincronização automática com o MV ainda não foi implementada.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DISPONÍVEL NO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Fluxo de importação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Escolher arquivo → mapear colunas → validar → importar → conferir a previsão recalculada.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6032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74320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DADOS MÍNIMOS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20040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Campos 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3192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Código de atendimento, convênio, data, status e valor opcional da consulta. Sem nome ou CPF de paciente.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69280"/>
            <a:ext cx="1088136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Até 1.000 linhas por arquivo. O acesso deve ser individual; permissões e operação real exigem validação.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NO CELULAR OU NO COMPUTADOR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Uma experiência para a rotina do médico.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Interface responsiva, com navegação adaptada ao tamanho da tela.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743200" cy="3977639"/>
          </a:xfrm>
          <a:prstGeom prst="roundRect">
            <a:avLst>
              <a:gd name="adj" fmla="val 12000"/>
            </a:avLst>
          </a:prstGeom>
          <a:solidFill>
            <a:srgbClr val="0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-mobile.png"/>
          <p:cNvPicPr>
            <a:picLocks noChangeAspect="1"/>
          </p:cNvPicPr>
          <p:nvPr/>
        </p:nvPicPr>
        <p:blipFill>
          <a:blip r:embed="rId2"/>
          <a:srcRect b="72068"/>
          <a:stretch>
            <a:fillRect/>
          </a:stretch>
        </p:blipFill>
        <p:spPr>
          <a:xfrm>
            <a:off x="850392" y="2450592"/>
            <a:ext cx="2505456" cy="3721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60" y="2606040"/>
            <a:ext cx="68580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B7A66"/>
                </a:solidFill>
                <a:latin typeface="Bricolage Grotesque"/>
              </a:defRPr>
            </a:pPr>
            <a:r>
              <a:t>Celular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337560"/>
            <a:ext cx="68580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E1F1B"/>
                </a:solidFill>
                <a:latin typeface="Manrope"/>
              </a:defRPr>
            </a:pPr>
            <a:r>
              <a:t>Resumo financeiro e navegação inferior</a:t>
            </a:r>
          </a:p>
          <a:p>
            <a:pPr>
              <a:spcAft>
                <a:spcPts val="900"/>
              </a:spcAft>
              <a:defRPr sz="2200" b="0">
                <a:solidFill>
                  <a:srgbClr val="0E1F1B"/>
                </a:solidFill>
                <a:latin typeface="Manrope"/>
              </a:defRPr>
            </a:pPr>
            <a:r>
              <a:t>para consultar em poucos toques.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617720"/>
            <a:ext cx="68580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0B7A66"/>
                </a:solidFill>
                <a:latin typeface="Bricolage Grotesque"/>
              </a:defRPr>
            </a:pPr>
            <a:r>
              <a:t>Computador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5349240"/>
            <a:ext cx="68580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0E1F1B"/>
                </a:solidFill>
                <a:latin typeface="Manrope"/>
              </a:defRPr>
            </a:pPr>
            <a:r>
              <a:t>Mais espaço para comparar convênios</a:t>
            </a:r>
          </a:p>
          <a:p>
            <a:pPr>
              <a:spcAft>
                <a:spcPts val="900"/>
              </a:spcAft>
              <a:defRPr sz="2200" b="0">
                <a:solidFill>
                  <a:srgbClr val="0E1F1B"/>
                </a:solidFill>
                <a:latin typeface="Manrope"/>
              </a:defRPr>
            </a:pPr>
            <a:r>
              <a:t>e investigar os atendimentos.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PROPOSTA DE PLANOS · SUJEITA À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Começar simples. Evoluir com a necessidade.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Preços sugeridos para lançamento. No MVP, todos os recursos estão liberados e não há cobrança.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9748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PARA CONHECER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5468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Free  ·  R$ 0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8620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Proposta: 1 convênio, competência atual e visão básica da produção.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9748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PARA ACOMPANHAR A ROTINA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15468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Pro  ·  R$ 49,90/mês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8620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Proposta por médico: múltiplos convênios, competências disponíveis, metas, regras e importação.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23560"/>
            <a:ext cx="10789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A separação de recursos, limites, atendimento e cobrança ainda será implementada e aprovada.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CONVITE AO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Vamos validar com quem vai usar.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Proposta: grupo inicial de 5 a 10 médicos, com acompanhamento por 30 dias.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ETAPA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Demonstração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Primeiro encontro com dados fictícios e roteiro guiado.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ETAPA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Validação controlada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Dados reais somente após aprovação do hospital, autenticação validada e regras conferidas.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ETAPA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Decisão conjunta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Medir clareza, divergências, tempo de conferência e interesse no plano Pro.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1088136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0B7A66"/>
                </a:solidFill>
                <a:latin typeface="Manrope"/>
              </a:defRPr>
            </a:pPr>
            <a:r>
              <a:t>Pergunta central: “Você entende melhor quanto está previsto e o que precisa conferir?”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APÊNDICE · SITUAÇÃO DA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Pronto para mostrar. Validações antes de operar.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Use este apêndice na discussão com gestão, TI e responsáveis pelo piloto.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9748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MVP FUNCIONAL COM DADOS FICTÍCIOS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5468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Demonstrável 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88620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Dashboard em duas competências; filtros; regras; metas; importação; cálculo SQL; interface móvel e desktop.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14600"/>
            <a:ext cx="5468112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97480"/>
            <a:ext cx="5065776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CONDIÇÕES PARA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154680"/>
            <a:ext cx="5065776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Antes dos dados reais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86200"/>
            <a:ext cx="5065776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Validar Auth/Supabase, homologar regras e competência, autorizar tratamento de dados, implantar e conciliar.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69280"/>
            <a:ext cx="1088136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B7A66"/>
                </a:solidFill>
                <a:latin typeface="Manrope"/>
              </a:defRPr>
            </a:pPr>
            <a:r>
              <a:t>Registro da entrega: build aprovado · 9 testes SQL/RLS · 4 testes de navegador · sem acesso ao Oracle.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APÊNDICE · MODELO INSTITUCIONAL SUGERIDO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O hospital pode viabilizar o acesso dos médicos.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Uma proposta comercial inicial, condicionada à descoberta técnica e ao escopo contratual.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6812280" cy="3474720"/>
          </a:xfrm>
          <a:prstGeom prst="roundRect">
            <a:avLst>
              <a:gd name="adj" fmla="val 12000"/>
            </a:avLst>
          </a:prstGeom>
          <a:solidFill>
            <a:srgbClr val="0B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6217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Manrope"/>
              </a:defRPr>
            </a:pPr>
            <a:r>
              <a:t>LICENÇA INSTITUCIONAL · PROPOSTA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47872"/>
            <a:ext cx="61264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Bricolage Grotesque"/>
              </a:defRPr>
            </a:pPr>
            <a:r>
              <a:t>R$ 1.490/mês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61264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Referência para até 50 médicos em uma instituição.</a:t>
            </a:r>
          </a:p>
          <a:p>
            <a:pPr>
              <a:spcAft>
                <a:spcPts val="90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Implantação inicial sugerida: R$ 4.900.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43200"/>
            <a:ext cx="384048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B7A66"/>
                </a:solidFill>
                <a:latin typeface="Manrope"/>
              </a:defRPr>
            </a:pPr>
            <a:r>
              <a:t>Definir antes de contratar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657600"/>
            <a:ext cx="3749039" cy="21031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• Fonte e escopo dos dados</a:t>
            </a:r>
          </a:p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• Trabalho de integração MV</a:t>
            </a:r>
          </a:p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• Suporte e disponibilidade</a:t>
            </a:r>
          </a:p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• Custos de operação e limites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APÊNDICE · HIPÓTESE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O que validar antes de fixar os preços.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Preço precisa cobrir operação e suporte e fazer sentido para o médico e para o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VALIDAÇÃO COM MÉDICOS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Disposição a pagar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Apresentar R$ 49,90 e perguntar se o valor é compatível com a utilidade percebida.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VIABILIDADE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Custo de servir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Estimar hospedagem, suporte, aquisição, tributos e manutenção de integrações.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560320"/>
            <a:ext cx="361188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5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743200"/>
            <a:ext cx="3209544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B7A66"/>
                </a:solidFill>
                <a:latin typeface="Manrope"/>
              </a:defRPr>
            </a:pPr>
            <a:r>
              <a:t>CENÁRIO, NÃO PROJEÇÃO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200400"/>
            <a:ext cx="3209544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E1F1B"/>
                </a:solidFill>
                <a:latin typeface="Bricolage Grotesque"/>
              </a:defRPr>
            </a:pPr>
            <a:r>
              <a:t>Receita ilustrativa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931920"/>
            <a:ext cx="3209544" cy="11887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100 assinantes Pro × R$ 49,90 = R$ 4.990/mês de receita bruta.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1078992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55F"/>
                </a:solidFill>
                <a:latin typeface="Manrope"/>
              </a:defRPr>
            </a:pPr>
            <a:r>
              <a:t>Não é lucro ou previsão de vendas. Não há estimativa defensável de valor de venda do software nesta fase.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0B7A66"/>
                </a:solidFill>
                <a:latin typeface="Manrope"/>
              </a:defRPr>
            </a:pPr>
            <a:r>
              <a:t>APÊNDICE · REFERÊNCIAS E PREMISSAS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0E1F1B"/>
                </a:solidFill>
                <a:latin typeface="Bricolage Grotesque"/>
              </a:defRPr>
            </a:pPr>
            <a:r>
              <a:t>Material de apoio à apresentação.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2655F"/>
                </a:solidFill>
                <a:latin typeface="Manrope"/>
              </a:defRPr>
            </a:pPr>
            <a:r>
              <a:t>Base da demonstração, limites conhecidos e contexto comercial consultado.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55F"/>
                </a:solidFill>
                <a:latin typeface="Manrope"/>
              </a:defRPr>
            </a:pPr>
            <a:r>
              <a:t>REPASSE MED  /  Demonstração com dados fictícios · Out/2026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2655F"/>
                </a:solidFill>
                <a:latin typeface="Manrope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54864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B7A66"/>
                </a:solidFill>
                <a:latin typeface="Manrope"/>
              </a:defRPr>
            </a:pPr>
            <a:r>
              <a:t>Produto e demonstração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10789920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Plano do projeto e regras do MVP</a:t>
            </a:r>
          </a:p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Registro de validação: 16/10/2026</a:t>
            </a:r>
          </a:p>
          <a:p>
            <a:pPr>
              <a:spcAft>
                <a:spcPts val="900"/>
              </a:spcAft>
              <a:defRPr sz="1800" b="0">
                <a:solidFill>
                  <a:srgbClr val="52655F"/>
                </a:solidFill>
                <a:latin typeface="Manrope"/>
              </a:defRPr>
            </a:pPr>
            <a:r>
              <a:t>Capturas reais: outubro/novembro de 2026 (fictícios)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10789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B7A66"/>
                </a:solidFill>
                <a:latin typeface="Manrope"/>
              </a:defRPr>
            </a:pPr>
            <a:r>
              <a:t>Referência externa de oferta adjacente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78992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iClinic · Gestão financeira e repasse para profissionais</a:t>
            </a:r>
          </a:p>
          <a:p>
            <a:pPr>
              <a:spcAft>
                <a:spcPts val="900"/>
              </a:spcAft>
              <a:defRPr sz="1600" b="0">
                <a:solidFill>
                  <a:srgbClr val="52655F"/>
                </a:solidFill>
                <a:latin typeface="Manrope"/>
              </a:defRPr>
            </a:pPr>
            <a:r>
              <a:t>https://site.iclinic.com.br/funcionalidades/gestao-financeira/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Repasse MED — apresentação aos médicos</dc:title>
  <dc:subject>Demonstração funcional e proposta comercial para validação</dc:subject>
  <dc:creator>Repasse MED</dc:creator>
  <cp:keywords>MVP, dados fictícios, repasse médico, proposta de planos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