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Versão atualizada: HonorMed, conforme revisão v2. Controle pessoal, não extrato oficial. Todos os dados são fictícios. Disponibilidade comercial da marca ainda não foi validada. Slides 1–12 para médicos; 13–16 como apêndices.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prometer renda maior, recuperação automática de glosas ou economia já comprovada. Sem dados pessoais de pacientes e sem acesso ao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demo local o botão Entrar não autentica, apenas abre seed. Auth Supabase está implementado mas ainda precisa validação do stack completo. Onboarding não exige vínculo ao MV.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Outubro: 24 consultas, 4 sem honorário, produção conhecida R$ 2.245,00, recebido R$ 500,00 e saldo R$ 1.745,00. Todos fictícios. Alterações no seed durante a demo mudam os valores.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prometer depósito, conciliação bancária ou exatidão contra o extrato oficial. O excesso recebido em um local não compensa saldo de outro.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registro representa quantidade, não prontuário nem atendimento hospitalar confirmado. Para evitar duplicidade, corrija a quantidade já lançada em vez de repetir o total do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hipotético. O banco copia o honorário conhecido ao salvar. Configurar honorário preenche os registros ainda sem valor. Alterar a configuração não muda os registros já valorizados; mudar local/convênio de um registro usa o honorário do novo par. A visão importada separada continua oferecendo regra fixa/percentual com vigência.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um depósito abrange vários locais ou meses, registre as parcelas conforme a composição conhecida. Se não souber, confirme a referência antes de atribuir. Não inventar conciliação por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pedir dados de pacientes para configurar. Não afirmar vínculo verificado com hospital por ter cadastrado um local. Sem honorário o registro pessoal já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PWA e temas implementados. Instalação no dispositivo físico ainda não foi validada. Para consultar dados é necessária conexão. Não há controle financeiro offline. Localhost é acessível apenas no computador do servidor, sem deploy público.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fixar preço com o primeiro contato antes de validar utilidade. Valores são hipóteses próprias, não pesquisa de mercado ou contrato aprovado. Recursos avançados de importação são separados da produção pessoal.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Demonstre com dados fictícios agora. Uso pessoal real depende de validar login, permissões e operação. Integração hospitalar exige autorização própria e descoberta HML. Não condicionar a utilidade do registro pessoal a existir um conector.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 em 16/10/2026. Testes SQL usam PostgreSQL PGlite com papel autenticado e RLS. Não há homologação hospitalar, confirmação bancária nem trilha contábil completa. A visão importada é separada para evitar duplicação; não há conciliação automática.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Sugestões anteriores mantidas como hipótese. Não há licença institucional ou painel administrativo implementados. Evitar dupla cobrança individual/institucional. Integração MV/customizações devem ser orçadas após descoberta HML, sem compromisso implícito de entrega por esse valor.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há base suficiente para valorar venda integral do software. A autonomia pessoal é distinta da integração hospitalar, que tem custos e requisitos próprios.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Nenhuma integração MV foi implementada ou consultada. Registros pessoais não confirmam faturamento, glosa ou pagamento oficial. A futura integração precisa de reconciliação explícita para evitar duplicidades. Consulte docs/REGRAS.md e GUIA-APRESENTADOR.md.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D3EBE4"/>
                </a:solidFill>
                <a:latin typeface="Manrope"/>
              </a:defRPr>
            </a:pPr>
            <a:r>
              <a:t>AUTONOMIA PARA QUEM CUIDA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0642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FFFFFF"/>
                </a:solidFill>
                <a:latin typeface="Bricolage Grotesque"/>
              </a:defRPr>
            </a:pPr>
            <a:r>
              <a:t>Suas consultas. Seus recebimentos.</a:t>
            </a:r>
          </a:p>
          <a:p>
            <a:pPr>
              <a:spcAft>
                <a:spcPts val="900"/>
              </a:spcAft>
              <a:defRPr sz="3200" b="1">
                <a:solidFill>
                  <a:srgbClr val="FFFFFF"/>
                </a:solidFill>
                <a:latin typeface="Bricolage Grotesque"/>
              </a:defRPr>
            </a:pPr>
            <a:r>
              <a:t>Seu próprio controle.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D3EBE4"/>
                </a:solidFill>
                <a:latin typeface="Manrope"/>
              </a:defRPr>
            </a:pPr>
            <a:r>
              <a:t>HonorMed  /  Controle pessoal · dados fictícios · Out/2026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50292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D3EBE4"/>
                </a:solidFill>
                <a:latin typeface="Manrope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7315200" cy="7772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4600" b="1">
                <a:solidFill>
                  <a:srgbClr val="FFFFFF"/>
                </a:solidFill>
                <a:latin typeface="Bricolage Grotesque"/>
              </a:defRPr>
            </a:pPr>
            <a:r>
              <a:t>HonorMed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77639"/>
            <a:ext cx="8046720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100" b="0">
                <a:solidFill>
                  <a:srgbClr val="D3EBE4"/>
                </a:solidFill>
                <a:latin typeface="Manrope"/>
              </a:defRPr>
            </a:pPr>
            <a:r>
              <a:t>Registre a produção do dia e acompanhe os honorários</a:t>
            </a:r>
          </a:p>
          <a:p>
            <a:pPr>
              <a:spcAft>
                <a:spcPts val="900"/>
              </a:spcAft>
              <a:defRPr sz="2100" b="0">
                <a:solidFill>
                  <a:srgbClr val="D3EBE4"/>
                </a:solidFill>
                <a:latin typeface="Manrope"/>
              </a:defRPr>
            </a:pPr>
            <a:r>
              <a:t>sem depender de acesso ao administrativo.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486400"/>
            <a:ext cx="6400800" cy="457200"/>
          </a:xfrm>
          <a:prstGeom prst="roundRect">
            <a:avLst>
              <a:gd name="adj" fmla="val 12000"/>
            </a:avLst>
          </a:prstGeom>
          <a:solidFill>
            <a:srgbClr val="0B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614416"/>
            <a:ext cx="603504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FFFFFF"/>
                </a:solidFill>
                <a:latin typeface="Manrope"/>
              </a:defRPr>
            </a:pPr>
            <a:r>
              <a:t>DEMONSTRAÇÃO DO MVP  •  CONTROLE PESSOAL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2103120"/>
            <a:ext cx="1920240" cy="3337560"/>
          </a:xfrm>
          <a:prstGeom prst="roundRect">
            <a:avLst>
              <a:gd name="adj" fmla="val 12000"/>
            </a:avLst>
          </a:prstGeom>
          <a:solidFill>
            <a:srgbClr val="0B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2697480"/>
            <a:ext cx="1645920" cy="21945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100" b="1">
                <a:solidFill>
                  <a:srgbClr val="FFFFFF"/>
                </a:solidFill>
                <a:latin typeface="Bricolage Grotesque"/>
              </a:defRPr>
            </a:pPr>
            <a:r>
              <a:t>REGISTRAR</a:t>
            </a:r>
          </a:p>
          <a:p>
            <a:pPr>
              <a:spcAft>
                <a:spcPts val="900"/>
              </a:spcAft>
              <a:defRPr sz="2100" b="1">
                <a:solidFill>
                  <a:srgbClr val="FFFFFF"/>
                </a:solidFill>
                <a:latin typeface="Bricolage Grotesque"/>
              </a:defRPr>
            </a:pPr>
            <a:r>
              <a:t>PREVER</a:t>
            </a:r>
          </a:p>
          <a:p>
            <a:pPr>
              <a:spcAft>
                <a:spcPts val="900"/>
              </a:spcAft>
              <a:defRPr sz="2100" b="1">
                <a:solidFill>
                  <a:srgbClr val="FFFFFF"/>
                </a:solidFill>
                <a:latin typeface="Bricolage Grotesque"/>
              </a:defRPr>
            </a:pPr>
            <a:r>
              <a:t>CONFERIR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0B7A66"/>
                </a:solidFill>
                <a:latin typeface="Manrope"/>
              </a:defRPr>
            </a:pPr>
            <a:r>
              <a:t>O VALOR PARA O MÉDICO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0642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0E1F1B"/>
                </a:solidFill>
                <a:latin typeface="Bricolage Grotesque"/>
              </a:defRPr>
            </a:pPr>
            <a:r>
              <a:t>Seu controle começa com o que você já sabe.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1106424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5F"/>
                </a:solidFill>
                <a:latin typeface="Manrope"/>
              </a:defRPr>
            </a:pPr>
            <a:r>
              <a:t>Uma ferramenta simples para registrar a rotina e acompanhar seus próprios números.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5F"/>
                </a:solidFill>
                <a:latin typeface="Manrope"/>
              </a:defRPr>
            </a:pPr>
            <a:r>
              <a:t>HonorMed  /  Controle pessoal · dados fictícios ·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50292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52655F"/>
                </a:solidFill>
                <a:latin typeface="Manrope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01 / REGISTRAR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Sem planilha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Anote uma consulta ou a quantidade do dia, por local e convênio.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02 / PREVER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Sem depender de relatório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Use os honorários conhecidos para estimar sua produção e seu saldo.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03 / CONFERIR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Sem perder o histórico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2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Informe os recebimentos e acompanhe o que ainda está previsto.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669280"/>
            <a:ext cx="1088136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52655F"/>
                </a:solidFill>
                <a:latin typeface="Manrope"/>
              </a:defRPr>
            </a:pPr>
            <a:r>
              <a:t>O benefício esperado é autonomia na conferência. Utilidade e tempo de uso serão avaliados no piloto.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0B7A66"/>
                </a:solidFill>
                <a:latin typeface="Manrope"/>
              </a:defRPr>
            </a:pPr>
            <a:r>
              <a:t>COMO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0642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0E1F1B"/>
                </a:solidFill>
                <a:latin typeface="Bricolage Grotesque"/>
              </a:defRPr>
            </a:pPr>
            <a:r>
              <a:t>Configure uma vez. Registre em poucos passos.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1106424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5F"/>
                </a:solidFill>
                <a:latin typeface="Manrope"/>
              </a:defRPr>
            </a:pPr>
            <a:r>
              <a:t>O médico mantém o próprio controle, sem precisar de código do administrativo.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5F"/>
                </a:solidFill>
                <a:latin typeface="Manrope"/>
              </a:defRPr>
            </a:pPr>
            <a:r>
              <a:t>HonorMed  /  Controle pessoal · dados fictícios ·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50292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52655F"/>
                </a:solidFill>
                <a:latin typeface="Manrope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23160"/>
            <a:ext cx="3611880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578608"/>
            <a:ext cx="36576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0B7A66"/>
                </a:solidFill>
                <a:latin typeface="Manrope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578608"/>
            <a:ext cx="2743200" cy="43891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0E1F1B"/>
                </a:solidFill>
                <a:latin typeface="Manrope"/>
              </a:defRPr>
            </a:pPr>
            <a:r>
              <a:t>Entre na conta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45536"/>
            <a:ext cx="324612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52655F"/>
                </a:solidFill>
                <a:latin typeface="Manrope"/>
              </a:defRPr>
            </a:pPr>
            <a:r>
              <a:t>E-mail, senha, nome e CRM. Código MV é opcional.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423160"/>
            <a:ext cx="3611880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2" y="2578608"/>
            <a:ext cx="36576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0B7A66"/>
                </a:solidFill>
                <a:latin typeface="Manrope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578608"/>
            <a:ext cx="2743200" cy="43891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0E1F1B"/>
                </a:solidFill>
                <a:latin typeface="Manrope"/>
              </a:defRPr>
            </a:pPr>
            <a:r>
              <a:t>Cadastre seus locais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145536"/>
            <a:ext cx="324612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52655F"/>
                </a:solidFill>
                <a:latin typeface="Manrope"/>
              </a:defRPr>
            </a:pPr>
            <a:r>
              <a:t>Onde atende e quais convênios ou consultas particulares realiza.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423160"/>
            <a:ext cx="3611880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578608"/>
            <a:ext cx="36576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0B7A66"/>
                </a:solidFill>
                <a:latin typeface="Manrope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0808" y="2578608"/>
            <a:ext cx="2743200" cy="43891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0E1F1B"/>
                </a:solidFill>
                <a:latin typeface="Manrope"/>
              </a:defRPr>
            </a:pPr>
            <a:r>
              <a:t>Informe o honorário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145536"/>
            <a:ext cx="324612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52655F"/>
                </a:solidFill>
                <a:latin typeface="Manrope"/>
              </a:defRPr>
            </a:pPr>
            <a:r>
              <a:t>Valor esperado por consulta. Pode preencher quando souber.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206240"/>
            <a:ext cx="3611880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4361688"/>
            <a:ext cx="36576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0B7A66"/>
                </a:solidFill>
                <a:latin typeface="Manrope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4361688"/>
            <a:ext cx="2743200" cy="43891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0E1F1B"/>
                </a:solidFill>
                <a:latin typeface="Manrope"/>
              </a:defRPr>
            </a:pPr>
            <a:r>
              <a:t>Registre as consultas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928616"/>
            <a:ext cx="324612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52655F"/>
                </a:solidFill>
                <a:latin typeface="Manrope"/>
              </a:defRPr>
            </a:pPr>
            <a:r>
              <a:t>Data, local, convênio e quantidade. Uma consulta ou total do dia.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4206240"/>
            <a:ext cx="3611880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2272" y="4361688"/>
            <a:ext cx="36576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0B7A66"/>
                </a:solidFill>
                <a:latin typeface="Manrope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361688"/>
            <a:ext cx="2743200" cy="43891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0E1F1B"/>
                </a:solidFill>
                <a:latin typeface="Manrope"/>
              </a:defRPr>
            </a:pPr>
            <a:r>
              <a:t>Registre recebimentos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928616"/>
            <a:ext cx="324612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52655F"/>
                </a:solidFill>
                <a:latin typeface="Manrope"/>
              </a:defRPr>
            </a:pPr>
            <a:r>
              <a:t>Valor, local, mês da produção e data em que recebeu.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206240"/>
            <a:ext cx="3611880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57032" y="4361688"/>
            <a:ext cx="36576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0B7A66"/>
                </a:solidFill>
                <a:latin typeface="Manrope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50808" y="4361688"/>
            <a:ext cx="2743200" cy="43891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0E1F1B"/>
                </a:solidFill>
                <a:latin typeface="Manrope"/>
              </a:defRPr>
            </a:pPr>
            <a:r>
              <a:t>Acompanhe o saldo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928616"/>
            <a:ext cx="324612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52655F"/>
                </a:solidFill>
                <a:latin typeface="Manrope"/>
              </a:defRPr>
            </a:pPr>
            <a:r>
              <a:t>Veja a previsão, consultas sem valor e os detalhes dos registros.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0B7A66"/>
                </a:solidFill>
                <a:latin typeface="Manrope"/>
              </a:defRPr>
            </a:pPr>
            <a:r>
              <a:t>PAINEL PESSOAL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0642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0E1F1B"/>
                </a:solidFill>
                <a:latin typeface="Bricolage Grotesque"/>
              </a:defRPr>
            </a:pPr>
            <a:r>
              <a:t>Duas ações. Seus números em primeiro lugar.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1106424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5F"/>
                </a:solidFill>
                <a:latin typeface="Manrope"/>
              </a:defRPr>
            </a:pPr>
            <a:r>
              <a:t>Captura real do MVP · outubro de 2026 · dados fictícios.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5F"/>
                </a:solidFill>
                <a:latin typeface="Manrope"/>
              </a:defRPr>
            </a:pPr>
            <a:r>
              <a:t>HonorMed  /  Controle pessoal · dados fictícios ·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50292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52655F"/>
                </a:solidFill>
                <a:latin typeface="Manrope"/>
              </a:defRPr>
            </a:pPr>
            <a:r>
              <a:t>04</a:t>
            </a:r>
          </a:p>
        </p:txBody>
      </p:sp>
      <p:pic>
        <p:nvPicPr>
          <p:cNvPr id="7" name="Picture 6" descr="personal-dashboard-desktop.png"/>
          <p:cNvPicPr>
            <a:picLocks noChangeAspect="1"/>
          </p:cNvPicPr>
          <p:nvPr/>
        </p:nvPicPr>
        <p:blipFill>
          <a:blip r:embed="rId2"/>
          <a:srcRect b="57658"/>
          <a:stretch>
            <a:fillRect/>
          </a:stretch>
        </p:blipFill>
        <p:spPr>
          <a:xfrm>
            <a:off x="502920" y="2423160"/>
            <a:ext cx="7589520" cy="3730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66760" y="2560320"/>
            <a:ext cx="3108960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B7A66"/>
                </a:solidFill>
                <a:latin typeface="Manrope"/>
              </a:defRPr>
            </a:pPr>
            <a:r>
              <a:t>Registrar consultas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035808"/>
            <a:ext cx="3108960" cy="6858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5F"/>
                </a:solidFill>
                <a:latin typeface="Manrope"/>
              </a:defRPr>
            </a:pPr>
            <a:r>
              <a:t>Quantidade do dia, local e convênio.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3840480"/>
            <a:ext cx="3108960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B7A66"/>
                </a:solidFill>
                <a:latin typeface="Manrope"/>
              </a:defRPr>
            </a:pPr>
            <a:r>
              <a:t>Registrar recebimento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4315968"/>
            <a:ext cx="3108960" cy="6858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5F"/>
                </a:solidFill>
                <a:latin typeface="Manrope"/>
              </a:defRPr>
            </a:pPr>
            <a:r>
              <a:t>Valor recebido e mês da produção.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5120640"/>
            <a:ext cx="3108960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B7A66"/>
                </a:solidFill>
                <a:latin typeface="Manrope"/>
              </a:defRPr>
            </a:pPr>
            <a:r>
              <a:t>Acompanhar o saldo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5596127"/>
            <a:ext cx="3108960" cy="6858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5F"/>
                </a:solidFill>
                <a:latin typeface="Manrope"/>
              </a:defRPr>
            </a:pPr>
            <a:r>
              <a:t>Produção conhecida menos recebimentos, por local.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0B7A66"/>
                </a:solidFill>
                <a:latin typeface="Manrope"/>
              </a:defRPr>
            </a:pPr>
            <a:r>
              <a:t>ENTENDA O RESUMO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0642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0E1F1B"/>
                </a:solidFill>
                <a:latin typeface="Bricolage Grotesque"/>
              </a:defRPr>
            </a:pPr>
            <a:r>
              <a:t>Produção e recebimento são coisas diferentes.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1106424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5F"/>
                </a:solidFill>
                <a:latin typeface="Manrope"/>
              </a:defRPr>
            </a:pPr>
            <a:r>
              <a:t>O saldo representa o seu controle pessoal, sem confirmação do hospital.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5F"/>
                </a:solidFill>
                <a:latin typeface="Manrope"/>
              </a:defRPr>
            </a:pPr>
            <a:r>
              <a:t>HonorMed  /  Controle pessoal · dados fictícios ·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50292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52655F"/>
                </a:solidFill>
                <a:latin typeface="Manrope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PRODUÇÃO ESTIMADA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R$ 2.245,00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Quantidade registrada × honorários conhecidos. Consultas sem valor ficam fora da soma.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RECEBIDO INFORMADO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R$ 500,00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Pagamentos registrados por local, convênio e mês de produção.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PREVISTO A RECEBER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R$ 1.745,00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2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Saldo estimado por local e convênio, considerando os valores conhecidos.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669280"/>
            <a:ext cx="1088136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52655F"/>
                </a:solidFill>
                <a:latin typeface="Manrope"/>
              </a:defRPr>
            </a:pPr>
            <a:r>
              <a:t>Exemplo fictício de outubro. Há 4 consultas registradas aguardando honorário.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0B7A66"/>
                </a:solidFill>
                <a:latin typeface="Manrope"/>
              </a:defRPr>
            </a:pPr>
            <a:r>
              <a:t>REGISTRO RÁPIDO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0642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0E1F1B"/>
                </a:solidFill>
                <a:latin typeface="Bricolage Grotesque"/>
              </a:defRPr>
            </a:pPr>
            <a:r>
              <a:t>Não sabe o valor? Registre as consultas assim mesmo.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1106424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5F"/>
                </a:solidFill>
                <a:latin typeface="Manrope"/>
              </a:defRPr>
            </a:pPr>
            <a:r>
              <a:t>O lançamento pode ser individual ou consolidado ao final do dia.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5F"/>
                </a:solidFill>
                <a:latin typeface="Manrope"/>
              </a:defRPr>
            </a:pPr>
            <a:r>
              <a:t>HonorMed  /  Controle pessoal · dados fictícios ·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50292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52655F"/>
                </a:solidFill>
                <a:latin typeface="Manrope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DATA E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Onde e quando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Selecione a data das consultas e o local de atendimento.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CONVÊNIO E QUANTIDADE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Quanto você atendeu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Exemplo: 8 consultas Unimed na Clínica Central.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HONORÁRIO OPCIONAL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Valor pode esperar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2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Sem honorário cadastrado, a quantidade fica salva e o valor fica pendente.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669280"/>
            <a:ext cx="1088136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52655F"/>
                </a:solidFill>
                <a:latin typeface="Manrope"/>
              </a:defRPr>
            </a:pPr>
            <a:r>
              <a:t>Sem nome, CPF ou identificação de pacientes. Você pode editar ou excluir lançamentos para corrigir.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0B7A66"/>
                </a:solidFill>
                <a:latin typeface="Manrope"/>
              </a:defRPr>
            </a:pPr>
            <a:r>
              <a:t>EXEMPLO DIDÁTICO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0642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0E1F1B"/>
                </a:solidFill>
                <a:latin typeface="Bricolage Grotesque"/>
              </a:defRPr>
            </a:pPr>
            <a:r>
              <a:t>Da produção ao saldo, com clareza.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1106424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5F"/>
                </a:solidFill>
                <a:latin typeface="Manrope"/>
              </a:defRPr>
            </a:pPr>
            <a:r>
              <a:t>O cálculo do seu controle pessoal usa o honorário esperado por consulta.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5F"/>
                </a:solidFill>
                <a:latin typeface="Manrope"/>
              </a:defRPr>
            </a:pPr>
            <a:r>
              <a:t>HonorMed  /  Controle pessoal · dados fictícios ·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50292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52655F"/>
                </a:solidFill>
                <a:latin typeface="Manrope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14600"/>
            <a:ext cx="7040880" cy="3401568"/>
          </a:xfrm>
          <a:prstGeom prst="roundRect">
            <a:avLst>
              <a:gd name="adj" fmla="val 12000"/>
            </a:avLst>
          </a:prstGeom>
          <a:solidFill>
            <a:srgbClr val="0B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640080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FFFFFF"/>
                </a:solidFill>
                <a:latin typeface="Manrope"/>
              </a:defRPr>
            </a:pPr>
            <a:r>
              <a:t>8 CONSULTAS × R$ 85,00 DE HONORÁRIO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74720"/>
            <a:ext cx="548640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4200" b="1">
                <a:solidFill>
                  <a:srgbClr val="FFFFFF"/>
                </a:solidFill>
                <a:latin typeface="Bricolage Grotesque"/>
              </a:defRPr>
            </a:pPr>
            <a:r>
              <a:t>R$ 680,00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17720"/>
            <a:ext cx="640080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100" b="0">
                <a:solidFill>
                  <a:srgbClr val="FFFFFF"/>
                </a:solidFill>
                <a:latin typeface="Manrope"/>
              </a:defRPr>
            </a:pPr>
            <a:r>
              <a:t>Recebimento informado: R$ 200,00</a:t>
            </a:r>
          </a:p>
          <a:p>
            <a:pPr>
              <a:spcAft>
                <a:spcPts val="900"/>
              </a:spcAft>
              <a:defRPr sz="2100" b="0">
                <a:solidFill>
                  <a:srgbClr val="FFFFFF"/>
                </a:solidFill>
                <a:latin typeface="Manrope"/>
              </a:defRPr>
            </a:pPr>
            <a:r>
              <a:t>Saldo previsto: R$ 480,00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697480"/>
            <a:ext cx="338328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200" b="1">
                <a:solidFill>
                  <a:srgbClr val="0B7A66"/>
                </a:solidFill>
                <a:latin typeface="Manrope"/>
              </a:defRPr>
            </a:pPr>
            <a:r>
              <a:t>Honorário líquido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611880"/>
            <a:ext cx="33832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52655F"/>
                </a:solidFill>
                <a:latin typeface="Manrope"/>
              </a:defRPr>
            </a:pPr>
            <a:r>
              <a:t>Informe o valor por consulta já considerando os descontos que conhece.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4800600"/>
            <a:ext cx="338328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200" b="1">
                <a:solidFill>
                  <a:srgbClr val="0B7A66"/>
                </a:solidFill>
                <a:latin typeface="Manrope"/>
              </a:defRPr>
            </a:pPr>
            <a:r>
              <a:t>Valores preservados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5440680"/>
            <a:ext cx="338328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Registros com honorário mantêm o valor usado no lançamento.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0B7A66"/>
                </a:solidFill>
                <a:latin typeface="Manrope"/>
              </a:defRPr>
            </a:pPr>
            <a:r>
              <a:t>RECEBIMENTOS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0642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0E1F1B"/>
                </a:solidFill>
                <a:latin typeface="Bricolage Grotesque"/>
              </a:defRPr>
            </a:pPr>
            <a:r>
              <a:t>O mês da produção pode ser diferente do pagamento.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1106424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5F"/>
                </a:solidFill>
                <a:latin typeface="Manrope"/>
              </a:defRPr>
            </a:pPr>
            <a:r>
              <a:t>Você informa a que período o dinheiro recebido se refere.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5F"/>
                </a:solidFill>
                <a:latin typeface="Manrope"/>
              </a:defRPr>
            </a:pPr>
            <a:r>
              <a:t>HonorMed  /  Controle pessoal · dados fictícios ·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50292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52655F"/>
                </a:solidFill>
                <a:latin typeface="Manrope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PERÍODO DE REFERÊNCIA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Produção de outubro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Escolha o mês das consultas às quais o pagamento se refere.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ENTRADA DO DINHEIRO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Recebido em novembro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Informe convênio, local, data real e valor, mesmo que parcial.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ACOMPANHAMENTO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Saldo de outubro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2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O valor reduz o saldo daquele local e período, sem alterar novembro.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669280"/>
            <a:ext cx="1088136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52655F"/>
                </a:solidFill>
                <a:latin typeface="Manrope"/>
              </a:defRPr>
            </a:pPr>
            <a:r>
              <a:t>O lançamento abate o saldo daquele local e convênio; não marca consultas individuais como pagas.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0B7A66"/>
                </a:solidFill>
                <a:latin typeface="Manrope"/>
              </a:defRPr>
            </a:pPr>
            <a:r>
              <a:t>AJUSTES SIMPLES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0642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0E1F1B"/>
                </a:solidFill>
                <a:latin typeface="Bricolage Grotesque"/>
              </a:defRPr>
            </a:pPr>
            <a:r>
              <a:t>Uma configuração para cada rotina.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1106424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5F"/>
                </a:solidFill>
                <a:latin typeface="Manrope"/>
              </a:defRPr>
            </a:pPr>
            <a:r>
              <a:t>Locais e convênios podem ter honorários diferentes.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5F"/>
                </a:solidFill>
                <a:latin typeface="Manrope"/>
              </a:defRPr>
            </a:pPr>
            <a:r>
              <a:t>HonorMed  /  Controle pessoal · dados fictícios ·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50292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52655F"/>
                </a:solidFill>
                <a:latin typeface="Manrope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ONDE ATENDE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Seus locais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Cadastre consultórios, clínicas ou hospitais pelos nomes que usa.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O QUE ATENDE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Seus convênios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Inclua Particular quando fizer consultas particulares.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QUANTO ESPERA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Seus honorários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2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Preencha por local e convênio. Novos registros usam o valor configurado.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669280"/>
            <a:ext cx="1088136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52655F"/>
                </a:solidFill>
                <a:latin typeface="Manrope"/>
              </a:defRPr>
            </a:pPr>
            <a:r>
              <a:t>Salvar honorário também preenche registros ainda sem valor. A tela avisa esse efeito.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0B7A66"/>
                </a:solidFill>
                <a:latin typeface="Manrope"/>
              </a:defRPr>
            </a:pPr>
            <a:r>
              <a:t>NO CELULAR E NO COMPUTADOR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0642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0E1F1B"/>
                </a:solidFill>
                <a:latin typeface="Bricolage Grotesque"/>
              </a:defRPr>
            </a:pPr>
            <a:r>
              <a:t>O seu controle acompanha a sua rotina.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1106424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5F"/>
                </a:solidFill>
                <a:latin typeface="Manrope"/>
              </a:defRPr>
            </a:pPr>
            <a:r>
              <a:t>Quatro áreas: Início, Produção, Recebimentos e Ajustes.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5F"/>
                </a:solidFill>
                <a:latin typeface="Manrope"/>
              </a:defRPr>
            </a:pPr>
            <a:r>
              <a:t>HonorMed  /  Controle pessoal · dados fictícios ·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50292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52655F"/>
                </a:solidFill>
                <a:latin typeface="Manrope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2743200" cy="3977639"/>
          </a:xfrm>
          <a:prstGeom prst="roundRect">
            <a:avLst>
              <a:gd name="adj" fmla="val 12000"/>
            </a:avLst>
          </a:prstGeom>
          <a:solidFill>
            <a:srgbClr val="0E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ersonal-dashboard-mobile.png"/>
          <p:cNvPicPr>
            <a:picLocks noChangeAspect="1"/>
          </p:cNvPicPr>
          <p:nvPr/>
        </p:nvPicPr>
        <p:blipFill>
          <a:blip r:embed="rId2"/>
          <a:srcRect b="76422"/>
          <a:stretch>
            <a:fillRect/>
          </a:stretch>
        </p:blipFill>
        <p:spPr>
          <a:xfrm>
            <a:off x="850392" y="2450592"/>
            <a:ext cx="2505456" cy="3721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23360" y="2651760"/>
            <a:ext cx="694944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0B7A66"/>
                </a:solidFill>
                <a:latin typeface="Bricolage Grotesque"/>
              </a:defRPr>
            </a:pPr>
            <a:r>
              <a:t>No celular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3383280"/>
            <a:ext cx="69494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100" b="0">
                <a:solidFill>
                  <a:srgbClr val="0E1F1B"/>
                </a:solidFill>
                <a:latin typeface="Manrope"/>
              </a:defRPr>
            </a:pPr>
            <a:r>
              <a:t>Registre a produção ao final do dia</a:t>
            </a:r>
          </a:p>
          <a:p>
            <a:pPr>
              <a:spcAft>
                <a:spcPts val="900"/>
              </a:spcAft>
              <a:defRPr sz="2100" b="0">
                <a:solidFill>
                  <a:srgbClr val="0E1F1B"/>
                </a:solidFill>
                <a:latin typeface="Manrope"/>
              </a:defRPr>
            </a:pPr>
            <a:r>
              <a:t>e consulte seus números em poucos toques.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4617720"/>
            <a:ext cx="694944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0B7A66"/>
                </a:solidFill>
                <a:latin typeface="Bricolage Grotesque"/>
              </a:defRPr>
            </a:pPr>
            <a:r>
              <a:t>No computador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5349240"/>
            <a:ext cx="69494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100" b="0">
                <a:solidFill>
                  <a:srgbClr val="0E1F1B"/>
                </a:solidFill>
                <a:latin typeface="Manrope"/>
              </a:defRPr>
            </a:pPr>
            <a:r>
              <a:t>Filtre registros e confira os valores</a:t>
            </a:r>
          </a:p>
          <a:p>
            <a:pPr>
              <a:spcAft>
                <a:spcPts val="900"/>
              </a:spcAft>
              <a:defRPr sz="2100" b="0">
                <a:solidFill>
                  <a:srgbClr val="0E1F1B"/>
                </a:solidFill>
                <a:latin typeface="Manrope"/>
              </a:defRPr>
            </a:pPr>
            <a:r>
              <a:t>por local, convênio e data.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0B7A66"/>
                </a:solidFill>
                <a:latin typeface="Manrope"/>
              </a:defRPr>
            </a:pPr>
            <a:r>
              <a:t>PROPOSTA COMERCIAL · A VALIDAR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0642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0E1F1B"/>
                </a:solidFill>
                <a:latin typeface="Bricolage Grotesque"/>
              </a:defRPr>
            </a:pPr>
            <a:r>
              <a:t>Começar simples. Evoluir quando fizer sentido.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1106424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5F"/>
                </a:solidFill>
                <a:latin typeface="Manrope"/>
              </a:defRPr>
            </a:pPr>
            <a:r>
              <a:t>No MVP todos os recursos estão liberados. Cobrança e limites por plano não foram implementados.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5F"/>
                </a:solidFill>
                <a:latin typeface="Manrope"/>
              </a:defRPr>
            </a:pPr>
            <a:r>
              <a:t>HonorMed  /  Controle pessoal · dados fictícios ·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50292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52655F"/>
                </a:solidFill>
                <a:latin typeface="Manrope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14600"/>
            <a:ext cx="5468112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697480"/>
            <a:ext cx="5065776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PARA CONHECER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154680"/>
            <a:ext cx="5065776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Free · R$ 0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886200"/>
            <a:ext cx="5065776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Proposta: 1 convênio, mês atual e controle básico de produção e recebimentos.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514600"/>
            <a:ext cx="5468112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97480"/>
            <a:ext cx="5065776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PARA ACOMPANHAR A ROTINA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154680"/>
            <a:ext cx="5065776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Pro · R$ 49,90/mês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886200"/>
            <a:ext cx="5065776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Proposta por médico: múltiplos locais/convênios e acompanhamento dos meses com dados registrados.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623560"/>
            <a:ext cx="1088136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52655F"/>
                </a:solidFill>
                <a:latin typeface="Manrope"/>
              </a:defRPr>
            </a:pPr>
            <a:r>
              <a:t>Preços sugeridos para discussão, sem oferta ativa. Integração hospitalar não está automaticamente incluída.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0B7A66"/>
                </a:solidFill>
                <a:latin typeface="Manrope"/>
              </a:defRPr>
            </a:pPr>
            <a:r>
              <a:t>CONVERSA COM O DR. KUDO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0642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0E1F1B"/>
                </a:solidFill>
                <a:latin typeface="Bricolage Grotesque"/>
              </a:defRPr>
            </a:pPr>
            <a:r>
              <a:t>Vamos testar com a rotina de quem vai usar.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1106424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5F"/>
                </a:solidFill>
                <a:latin typeface="Manrope"/>
              </a:defRPr>
            </a:pPr>
            <a:r>
              <a:t>Primeiro, entender o dia a dia. Depois, demonstrar com um exemplo simples.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5F"/>
                </a:solidFill>
                <a:latin typeface="Manrope"/>
              </a:defRPr>
            </a:pPr>
            <a:r>
              <a:t>HonorMed  /  Controle pessoal · dados fictícios ·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50292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52655F"/>
                </a:solidFill>
                <a:latin typeface="Manrope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01 / ENTENDER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Como você atende?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Um local ou vários? Faz sentido registrar o total ao final do dia?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02 / DEMONSTRAR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Uma rotina completa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Registrar consultas → acompanhar produção → informar recebimento.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03 / VALIDAR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O que faltou?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2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Foi simples? O saldo ajudou? O que faria você continuar usando?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669280"/>
            <a:ext cx="1088136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52655F"/>
                </a:solidFill>
                <a:latin typeface="Manrope"/>
              </a:defRPr>
            </a:pPr>
            <a:r>
              <a:t>Proposta de piloto: 5–10 médicos, 30 dias de uso controlado após a validação técnica.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0B7A66"/>
                </a:solidFill>
                <a:latin typeface="Manrope"/>
              </a:defRPr>
            </a:pPr>
            <a:r>
              <a:t>APÊNDICE · SITUAÇÃO ATUAL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0642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0E1F1B"/>
                </a:solidFill>
                <a:latin typeface="Bricolage Grotesque"/>
              </a:defRPr>
            </a:pPr>
            <a:r>
              <a:t>Demonstrável hoje. Validações antes de operar.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1106424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5F"/>
                </a:solidFill>
                <a:latin typeface="Manrope"/>
              </a:defRPr>
            </a:pPr>
            <a:r>
              <a:t>A atualização prioriza autonomia do médico e mantém integração como possibilidade futura.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5F"/>
                </a:solidFill>
                <a:latin typeface="Manrope"/>
              </a:defRPr>
            </a:pPr>
            <a:r>
              <a:t>HonorMed  /  Controle pessoal · dados fictícios ·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50292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52655F"/>
                </a:solidFill>
                <a:latin typeface="Manrope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14600"/>
            <a:ext cx="5468112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697480"/>
            <a:ext cx="5065776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CONTROLE PESSOAL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154680"/>
            <a:ext cx="5065776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Disponível no MVP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886200"/>
            <a:ext cx="5065776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Quantidade por local/convênio; honorário pendente; produção; recebimento parcial; correções; filtros; cálculo SQL.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514600"/>
            <a:ext cx="5468112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97480"/>
            <a:ext cx="5065776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PRÓXIMAS VALIDAÇÕES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154680"/>
            <a:ext cx="5065776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Antes da operação real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886200"/>
            <a:ext cx="5065776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Validar Auth/Supabase hospedado, implantação, segurança operacional, suporte e uso em dispositivo físico.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669280"/>
            <a:ext cx="1088136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0B7A66"/>
                </a:solidFill>
                <a:latin typeface="Manrope"/>
              </a:defRPr>
            </a:pPr>
            <a:r>
              <a:t>Build aprovado · 19 testes SQL/RLS · 8 testes de navegador · sem conexão Oracle.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0B7A66"/>
                </a:solidFill>
                <a:latin typeface="Manrope"/>
              </a:defRPr>
            </a:pPr>
            <a:r>
              <a:t>APÊNDICE · PROPOSTA INSTITUCIONAL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0642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0E1F1B"/>
                </a:solidFill>
                <a:latin typeface="Bricolage Grotesque"/>
              </a:defRPr>
            </a:pPr>
            <a:r>
              <a:t>O hospital pode custear o acesso dos médicos.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1106424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5F"/>
                </a:solidFill>
                <a:latin typeface="Manrope"/>
              </a:defRPr>
            </a:pPr>
            <a:r>
              <a:t>Uma proposta futura condicionada ao escopo e à descoberta técnica.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5F"/>
                </a:solidFill>
                <a:latin typeface="Manrope"/>
              </a:defRPr>
            </a:pPr>
            <a:r>
              <a:t>HonorMed  /  Controle pessoal · dados fictícios ·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50292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52655F"/>
                </a:solidFill>
                <a:latin typeface="Manrope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6812280" cy="3474720"/>
          </a:xfrm>
          <a:prstGeom prst="roundRect">
            <a:avLst>
              <a:gd name="adj" fmla="val 12000"/>
            </a:avLst>
          </a:prstGeom>
          <a:solidFill>
            <a:srgbClr val="0B7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621792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FFFFFF"/>
                </a:solidFill>
                <a:latin typeface="Manrope"/>
              </a:defRPr>
            </a:pPr>
            <a:r>
              <a:t>REFERÊNCIA COMERCIAL · SUJEITA À APROVAÇÃO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47872"/>
            <a:ext cx="612648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3800" b="1">
                <a:solidFill>
                  <a:srgbClr val="FFFFFF"/>
                </a:solidFill>
                <a:latin typeface="Bricolage Grotesque"/>
              </a:defRPr>
            </a:pPr>
            <a:r>
              <a:t>R$ 1.490/mês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6126480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000" b="0">
                <a:solidFill>
                  <a:srgbClr val="FFFFFF"/>
                </a:solidFill>
                <a:latin typeface="Manrope"/>
              </a:defRPr>
            </a:pPr>
            <a:r>
              <a:t>Até 50 médicos de uma instituição.</a:t>
            </a:r>
          </a:p>
          <a:p>
            <a:pPr>
              <a:spcAft>
                <a:spcPts val="900"/>
              </a:spcAft>
              <a:defRPr sz="2000" b="0">
                <a:solidFill>
                  <a:srgbClr val="FFFFFF"/>
                </a:solidFill>
                <a:latin typeface="Manrope"/>
              </a:defRPr>
            </a:pPr>
            <a:r>
              <a:t>Implantação inicial sugerida: R$ 4.900.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2743200"/>
            <a:ext cx="384048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B7A66"/>
                </a:solidFill>
                <a:latin typeface="Manrope"/>
              </a:defRPr>
            </a:pPr>
            <a:r>
              <a:t>Definir antes de contratar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3657600"/>
            <a:ext cx="3749039" cy="21031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52655F"/>
                </a:solidFill>
                <a:latin typeface="Manrope"/>
              </a:defRPr>
            </a:pPr>
            <a:r>
              <a:t>• Escopo e custos</a:t>
            </a:r>
          </a:p>
          <a:p>
            <a:pPr>
              <a:spcAft>
                <a:spcPts val="900"/>
              </a:spcAft>
              <a:defRPr sz="1800" b="0">
                <a:solidFill>
                  <a:srgbClr val="52655F"/>
                </a:solidFill>
                <a:latin typeface="Manrope"/>
              </a:defRPr>
            </a:pPr>
            <a:r>
              <a:t>• Integração e autorização</a:t>
            </a:r>
          </a:p>
          <a:p>
            <a:pPr>
              <a:spcAft>
                <a:spcPts val="900"/>
              </a:spcAft>
              <a:defRPr sz="1800" b="0">
                <a:solidFill>
                  <a:srgbClr val="52655F"/>
                </a:solidFill>
                <a:latin typeface="Manrope"/>
              </a:defRPr>
            </a:pPr>
            <a:r>
              <a:t>• Suporte e disponibilidade</a:t>
            </a:r>
          </a:p>
          <a:p>
            <a:pPr>
              <a:spcAft>
                <a:spcPts val="900"/>
              </a:spcAft>
              <a:defRPr sz="1800" b="0">
                <a:solidFill>
                  <a:srgbClr val="52655F"/>
                </a:solidFill>
                <a:latin typeface="Manrope"/>
              </a:defRPr>
            </a:pPr>
            <a:r>
              <a:t>• Quem paga os acessos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0B7A66"/>
                </a:solidFill>
                <a:latin typeface="Manrope"/>
              </a:defRPr>
            </a:pPr>
            <a:r>
              <a:t>APÊNDICE · VIABILIDADE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0642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0E1F1B"/>
                </a:solidFill>
                <a:latin typeface="Bricolage Grotesque"/>
              </a:defRPr>
            </a:pPr>
            <a:r>
              <a:t>Validar utilidade antes de fixar preços.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1106424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5F"/>
                </a:solidFill>
                <a:latin typeface="Manrope"/>
              </a:defRPr>
            </a:pPr>
            <a:r>
              <a:t>O valor está em autonomia, organização e clareza do próprio controle.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5F"/>
                </a:solidFill>
                <a:latin typeface="Manrope"/>
              </a:defRPr>
            </a:pPr>
            <a:r>
              <a:t>HonorMed  /  Controle pessoal · dados fictícios ·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50292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52655F"/>
                </a:solidFill>
                <a:latin typeface="Manrope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USO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Vale registrar?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Medir frequência, dificuldade e tempo para lançar o total do dia.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PREÇO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Faz sentido pagar?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Testar a hipótese de R$ 49,90/mês sem prometer benefícios comprovados.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56032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743200"/>
            <a:ext cx="3209544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SUSTENTAÇÃO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3200400"/>
            <a:ext cx="3209544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Quanto custa servir?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2" y="3931920"/>
            <a:ext cx="3209544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Estimar hospedagem, suporte, aquisição, tributos e manutenção.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669280"/>
            <a:ext cx="1088136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52655F"/>
                </a:solidFill>
                <a:latin typeface="Manrope"/>
              </a:defRPr>
            </a:pPr>
            <a:r>
              <a:t>100 assinantes × R$ 49,90 = R$ 4.990/mês de receita bruta. Exemplo, não projeção ou lucro.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0B7A66"/>
                </a:solidFill>
                <a:latin typeface="Manrope"/>
              </a:defRPr>
            </a:pPr>
            <a:r>
              <a:t>APÊNDICE · LIMITES DA INFORMAÇÃO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06424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0E1F1B"/>
                </a:solidFill>
                <a:latin typeface="Bricolage Grotesque"/>
              </a:defRPr>
            </a:pPr>
            <a:r>
              <a:t>Seu registro é uma referência pessoal.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1106424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5F"/>
                </a:solidFill>
                <a:latin typeface="Manrope"/>
              </a:defRPr>
            </a:pPr>
            <a:r>
              <a:t>As fontes devem continuar separadas e identificadas.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5F"/>
                </a:solidFill>
                <a:latin typeface="Manrope"/>
              </a:defRPr>
            </a:pPr>
            <a:r>
              <a:t>HonorMed  /  Controle pessoal · dados fictícios · Out/2026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50292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52655F"/>
                </a:solidFill>
                <a:latin typeface="Manrope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14600"/>
            <a:ext cx="5468112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697480"/>
            <a:ext cx="5065776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FLUXO PRINCIPAL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154680"/>
            <a:ext cx="5065776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Informado por você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886200"/>
            <a:ext cx="5065776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Produção e recebimentos registrados pelo médico. Sem nome/CPF de paciente. Pode corrigir os próprios lançamentos.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514600"/>
            <a:ext cx="5468112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5E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97480"/>
            <a:ext cx="5065776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B7A66"/>
                </a:solidFill>
                <a:latin typeface="Manrope"/>
              </a:defRPr>
            </a:pPr>
            <a:r>
              <a:t>SEM DUPLICAR PRODUÇÃO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154680"/>
            <a:ext cx="5065776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0E1F1B"/>
                </a:solidFill>
                <a:latin typeface="Bricolage Grotesque"/>
              </a:defRPr>
            </a:pPr>
            <a:r>
              <a:t>Visão importada separada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886200"/>
            <a:ext cx="5065776" cy="11887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5F"/>
                </a:solidFill>
                <a:latin typeface="Manrope"/>
              </a:defRPr>
            </a:pPr>
            <a:r>
              <a:t>CSV/XLSX e regras avançadas em outra área. Os totais não são somados automaticamente ao controle pessoal.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669280"/>
            <a:ext cx="1088136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5F"/>
                </a:solidFill>
                <a:latin typeface="Manrope"/>
              </a:defRPr>
            </a:pPr>
            <a:r>
              <a:t>Base: plano, regras e registro de validação do projeto · versão de 16/10/2026.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HonorMed — controle pessoal do médico</dc:title>
  <dc:subject>Produção por quantidade e recebimentos informados pelo médico</dc:subject>
  <dc:creator>HonorMed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